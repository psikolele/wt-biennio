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9" r:id="rId12"/>
    <p:sldId id="264" r:id="rId13"/>
    <p:sldId id="265" r:id="rId14"/>
  </p:sldIdLst>
  <p:sldSz cx="14630400" cy="8229600"/>
  <p:notesSz cx="8229600" cy="14630400"/>
  <p:embeddedFontLst>
    <p:embeddedFont>
      <p:font typeface="DaunPenh" panose="01010101010101010101" pitchFamily="2" charset="0"/>
      <p:regular r:id="rId16"/>
    </p:embeddedFont>
    <p:embeddedFont>
      <p:font typeface="Fraunces Extra 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11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78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2B7F-724E-479D-D926-10BA9CAF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355B7-2D14-FF1F-C948-71D9445FC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F7A7C-9CCA-3757-7FF3-7347FB701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6AC93-E8F3-0BC5-5512-F864F3E0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7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d.it/attualita/2016/06/21/maturita-2016-simulazione-prova-dimatematica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ing.com/videos/riverview/relatedvideo?q=esercizi%20sulla%20funzione%20hash&amp;mid=3A2655BE3527BDAE32C13A2655BE3527BDAE32C1&amp;ajaxhist=0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79546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Funzioni e Hash: Fondamenti per la Blockchain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333274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Cosa si intende in generale quando si parla di funzione?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280190" y="462319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Definizione: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Una funzione F:A→B è una </a:t>
            </a:r>
            <a:r>
              <a:rPr lang="en-US" sz="15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legge che associa ad ogni elemento di A uno ed un solo elemento di B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548151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Questo concetto matematico fondamentale costituisce la base per comprendere molti processi informatici, tra cui la funzione hash utilizzata nei sistemi di elaborazione delle informazioni e nella blockchain.</a:t>
            </a:r>
            <a:endParaRPr lang="en-US" sz="155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99243F-5C44-98AB-C05F-53EF278A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636912"/>
            <a:ext cx="4787685" cy="2844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271" y="311587"/>
            <a:ext cx="5823942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Rappresentazione Grafica delle Funzioni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65995" y="4188271"/>
            <a:ext cx="2577482" cy="77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24174" y="3845167"/>
            <a:ext cx="2577482" cy="77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68111" y="1174286"/>
            <a:ext cx="3084753" cy="38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298998" y="5803985"/>
            <a:ext cx="2646032" cy="308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451426" y="5824550"/>
            <a:ext cx="2646032" cy="308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216737" y="3127105"/>
            <a:ext cx="2646032" cy="61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814" y="2290795"/>
            <a:ext cx="383880" cy="383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3271" y="7930991"/>
            <a:ext cx="226683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Domini e Codomini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453271" y="8384262"/>
            <a:ext cx="1372385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Nel nostro contesto matematico: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453271" y="8692991"/>
            <a:ext cx="6805255" cy="683300"/>
          </a:xfrm>
          <a:prstGeom prst="roundRect">
            <a:avLst>
              <a:gd name="adj" fmla="val 14929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/>
          <p:cNvSpPr/>
          <p:nvPr/>
        </p:nvSpPr>
        <p:spPr>
          <a:xfrm>
            <a:off x="581739" y="8821460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Dominio (A)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81739" y="9066490"/>
            <a:ext cx="654831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L'insieme dei numeri reali rappresentati sull'asse x. Ogni elemento del dominio è un valore di input della funzione.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7371755" y="8692991"/>
            <a:ext cx="6805374" cy="683300"/>
          </a:xfrm>
          <a:prstGeom prst="roundRect">
            <a:avLst>
              <a:gd name="adj" fmla="val 14929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5"/>
          <p:cNvSpPr/>
          <p:nvPr/>
        </p:nvSpPr>
        <p:spPr>
          <a:xfrm>
            <a:off x="7500223" y="8821460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Codominio (B)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500223" y="9066490"/>
            <a:ext cx="654843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L'insieme dei numeri reali rappresentati sull'asse y. Per ogni x, la funzione produce un solo valore y.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453271" y="9503688"/>
            <a:ext cx="1372385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Questa relazione matematica è alla base dei sistemi di elaborazione delle informazioni.</a:t>
            </a:r>
            <a:endParaRPr lang="en-US" sz="850" dirty="0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18DE4E4-632F-D573-82BE-E903C3C0F461}"/>
              </a:ext>
            </a:extLst>
          </p:cNvPr>
          <p:cNvCxnSpPr>
            <a:cxnSpLocks/>
          </p:cNvCxnSpPr>
          <p:nvPr/>
        </p:nvCxnSpPr>
        <p:spPr>
          <a:xfrm flipV="1">
            <a:off x="4580573" y="1716972"/>
            <a:ext cx="0" cy="360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112DD37-AA88-2373-BE59-70B30AD22096}"/>
              </a:ext>
            </a:extLst>
          </p:cNvPr>
          <p:cNvCxnSpPr/>
          <p:nvPr/>
        </p:nvCxnSpPr>
        <p:spPr>
          <a:xfrm>
            <a:off x="3860493" y="4021228"/>
            <a:ext cx="6480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746BBE-36F5-95AE-C8B9-EBD2C81C7162}"/>
              </a:ext>
            </a:extLst>
          </p:cNvPr>
          <p:cNvSpPr txBox="1"/>
          <p:nvPr/>
        </p:nvSpPr>
        <p:spPr>
          <a:xfrm>
            <a:off x="6236757" y="4669300"/>
            <a:ext cx="4752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A:l’insieme dei numeri reali (asse x)</a:t>
            </a:r>
          </a:p>
          <a:p>
            <a:r>
              <a:rPr lang="it-IT" dirty="0"/>
              <a:t>B:insieme dei numeri reali (asse y)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21EDFFB-CAA5-03DC-5D6A-7D14449ED662}"/>
              </a:ext>
            </a:extLst>
          </p:cNvPr>
          <p:cNvSpPr txBox="1"/>
          <p:nvPr/>
        </p:nvSpPr>
        <p:spPr>
          <a:xfrm>
            <a:off x="9435991" y="4237252"/>
            <a:ext cx="90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0180C38-A0FB-0AB8-928A-788B1232CD42}"/>
              </a:ext>
            </a:extLst>
          </p:cNvPr>
          <p:cNvSpPr txBox="1"/>
          <p:nvPr/>
        </p:nvSpPr>
        <p:spPr>
          <a:xfrm>
            <a:off x="4868605" y="2005004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Y</a:t>
            </a:r>
          </a:p>
        </p:txBody>
      </p:sp>
      <p:sp>
        <p:nvSpPr>
          <p:cNvPr id="31" name="Figura a mano libera: forma 30">
            <a:extLst>
              <a:ext uri="{FF2B5EF4-FFF2-40B4-BE49-F238E27FC236}">
                <a16:creationId xmlns:a16="http://schemas.microsoft.com/office/drawing/2014/main" id="{79ED9675-4202-2693-4A05-D47972EF6C2B}"/>
              </a:ext>
            </a:extLst>
          </p:cNvPr>
          <p:cNvSpPr/>
          <p:nvPr/>
        </p:nvSpPr>
        <p:spPr>
          <a:xfrm>
            <a:off x="4071568" y="2119866"/>
            <a:ext cx="2552492" cy="2251881"/>
          </a:xfrm>
          <a:custGeom>
            <a:avLst/>
            <a:gdLst>
              <a:gd name="connsiteX0" fmla="*/ 0 w 2552492"/>
              <a:gd name="connsiteY0" fmla="*/ 150125 h 2251881"/>
              <a:gd name="connsiteX1" fmla="*/ 13648 w 2552492"/>
              <a:gd name="connsiteY1" fmla="*/ 436728 h 2251881"/>
              <a:gd name="connsiteX2" fmla="*/ 27295 w 2552492"/>
              <a:gd name="connsiteY2" fmla="*/ 504967 h 2251881"/>
              <a:gd name="connsiteX3" fmla="*/ 54591 w 2552492"/>
              <a:gd name="connsiteY3" fmla="*/ 600502 h 2251881"/>
              <a:gd name="connsiteX4" fmla="*/ 81886 w 2552492"/>
              <a:gd name="connsiteY4" fmla="*/ 668740 h 2251881"/>
              <a:gd name="connsiteX5" fmla="*/ 109182 w 2552492"/>
              <a:gd name="connsiteY5" fmla="*/ 805218 h 2251881"/>
              <a:gd name="connsiteX6" fmla="*/ 150125 w 2552492"/>
              <a:gd name="connsiteY6" fmla="*/ 914400 h 2251881"/>
              <a:gd name="connsiteX7" fmla="*/ 177421 w 2552492"/>
              <a:gd name="connsiteY7" fmla="*/ 1050878 h 2251881"/>
              <a:gd name="connsiteX8" fmla="*/ 232012 w 2552492"/>
              <a:gd name="connsiteY8" fmla="*/ 1173708 h 2251881"/>
              <a:gd name="connsiteX9" fmla="*/ 259307 w 2552492"/>
              <a:gd name="connsiteY9" fmla="*/ 1255594 h 2251881"/>
              <a:gd name="connsiteX10" fmla="*/ 272955 w 2552492"/>
              <a:gd name="connsiteY10" fmla="*/ 1296537 h 2251881"/>
              <a:gd name="connsiteX11" fmla="*/ 300251 w 2552492"/>
              <a:gd name="connsiteY11" fmla="*/ 1337481 h 2251881"/>
              <a:gd name="connsiteX12" fmla="*/ 327546 w 2552492"/>
              <a:gd name="connsiteY12" fmla="*/ 1419367 h 2251881"/>
              <a:gd name="connsiteX13" fmla="*/ 341194 w 2552492"/>
              <a:gd name="connsiteY13" fmla="*/ 1487606 h 2251881"/>
              <a:gd name="connsiteX14" fmla="*/ 395785 w 2552492"/>
              <a:gd name="connsiteY14" fmla="*/ 1637731 h 2251881"/>
              <a:gd name="connsiteX15" fmla="*/ 423080 w 2552492"/>
              <a:gd name="connsiteY15" fmla="*/ 1746914 h 2251881"/>
              <a:gd name="connsiteX16" fmla="*/ 477672 w 2552492"/>
              <a:gd name="connsiteY16" fmla="*/ 1828800 h 2251881"/>
              <a:gd name="connsiteX17" fmla="*/ 491319 w 2552492"/>
              <a:gd name="connsiteY17" fmla="*/ 1869743 h 2251881"/>
              <a:gd name="connsiteX18" fmla="*/ 641445 w 2552492"/>
              <a:gd name="connsiteY18" fmla="*/ 2006221 h 2251881"/>
              <a:gd name="connsiteX19" fmla="*/ 682388 w 2552492"/>
              <a:gd name="connsiteY19" fmla="*/ 2033517 h 2251881"/>
              <a:gd name="connsiteX20" fmla="*/ 805218 w 2552492"/>
              <a:gd name="connsiteY20" fmla="*/ 2129051 h 2251881"/>
              <a:gd name="connsiteX21" fmla="*/ 846161 w 2552492"/>
              <a:gd name="connsiteY21" fmla="*/ 2156346 h 2251881"/>
              <a:gd name="connsiteX22" fmla="*/ 982639 w 2552492"/>
              <a:gd name="connsiteY22" fmla="*/ 2210937 h 2251881"/>
              <a:gd name="connsiteX23" fmla="*/ 1078173 w 2552492"/>
              <a:gd name="connsiteY23" fmla="*/ 2251881 h 2251881"/>
              <a:gd name="connsiteX24" fmla="*/ 1282889 w 2552492"/>
              <a:gd name="connsiteY24" fmla="*/ 2224585 h 2251881"/>
              <a:gd name="connsiteX25" fmla="*/ 1337480 w 2552492"/>
              <a:gd name="connsiteY25" fmla="*/ 2197290 h 2251881"/>
              <a:gd name="connsiteX26" fmla="*/ 1433015 w 2552492"/>
              <a:gd name="connsiteY26" fmla="*/ 2169994 h 2251881"/>
              <a:gd name="connsiteX27" fmla="*/ 1473958 w 2552492"/>
              <a:gd name="connsiteY27" fmla="*/ 2142699 h 2251881"/>
              <a:gd name="connsiteX28" fmla="*/ 1528549 w 2552492"/>
              <a:gd name="connsiteY28" fmla="*/ 2101755 h 2251881"/>
              <a:gd name="connsiteX29" fmla="*/ 1583140 w 2552492"/>
              <a:gd name="connsiteY29" fmla="*/ 2088108 h 2251881"/>
              <a:gd name="connsiteX30" fmla="*/ 1733266 w 2552492"/>
              <a:gd name="connsiteY30" fmla="*/ 2006221 h 2251881"/>
              <a:gd name="connsiteX31" fmla="*/ 1774209 w 2552492"/>
              <a:gd name="connsiteY31" fmla="*/ 1965278 h 2251881"/>
              <a:gd name="connsiteX32" fmla="*/ 1828800 w 2552492"/>
              <a:gd name="connsiteY32" fmla="*/ 1924334 h 2251881"/>
              <a:gd name="connsiteX33" fmla="*/ 1910686 w 2552492"/>
              <a:gd name="connsiteY33" fmla="*/ 1842448 h 2251881"/>
              <a:gd name="connsiteX34" fmla="*/ 1951630 w 2552492"/>
              <a:gd name="connsiteY34" fmla="*/ 1774209 h 2251881"/>
              <a:gd name="connsiteX35" fmla="*/ 2047164 w 2552492"/>
              <a:gd name="connsiteY35" fmla="*/ 1651379 h 2251881"/>
              <a:gd name="connsiteX36" fmla="*/ 2088107 w 2552492"/>
              <a:gd name="connsiteY36" fmla="*/ 1569493 h 2251881"/>
              <a:gd name="connsiteX37" fmla="*/ 2115403 w 2552492"/>
              <a:gd name="connsiteY37" fmla="*/ 1501254 h 2251881"/>
              <a:gd name="connsiteX38" fmla="*/ 2156346 w 2552492"/>
              <a:gd name="connsiteY38" fmla="*/ 1460311 h 2251881"/>
              <a:gd name="connsiteX39" fmla="*/ 2224585 w 2552492"/>
              <a:gd name="connsiteY39" fmla="*/ 1337481 h 2251881"/>
              <a:gd name="connsiteX40" fmla="*/ 2279176 w 2552492"/>
              <a:gd name="connsiteY40" fmla="*/ 1228299 h 2251881"/>
              <a:gd name="connsiteX41" fmla="*/ 2292824 w 2552492"/>
              <a:gd name="connsiteY41" fmla="*/ 1160060 h 2251881"/>
              <a:gd name="connsiteX42" fmla="*/ 2333767 w 2552492"/>
              <a:gd name="connsiteY42" fmla="*/ 1091821 h 2251881"/>
              <a:gd name="connsiteX43" fmla="*/ 2402006 w 2552492"/>
              <a:gd name="connsiteY43" fmla="*/ 859809 h 2251881"/>
              <a:gd name="connsiteX44" fmla="*/ 2429301 w 2552492"/>
              <a:gd name="connsiteY44" fmla="*/ 777922 h 2251881"/>
              <a:gd name="connsiteX45" fmla="*/ 2456597 w 2552492"/>
              <a:gd name="connsiteY45" fmla="*/ 682388 h 2251881"/>
              <a:gd name="connsiteX46" fmla="*/ 2511188 w 2552492"/>
              <a:gd name="connsiteY46" fmla="*/ 518615 h 2251881"/>
              <a:gd name="connsiteX47" fmla="*/ 2538483 w 2552492"/>
              <a:gd name="connsiteY47" fmla="*/ 177421 h 2251881"/>
              <a:gd name="connsiteX48" fmla="*/ 2552131 w 2552492"/>
              <a:gd name="connsiteY48" fmla="*/ 0 h 2251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552492" h="2251881">
                <a:moveTo>
                  <a:pt x="0" y="150125"/>
                </a:moveTo>
                <a:cubicBezTo>
                  <a:pt x="4549" y="245659"/>
                  <a:pt x="6313" y="341367"/>
                  <a:pt x="13648" y="436728"/>
                </a:cubicBezTo>
                <a:cubicBezTo>
                  <a:pt x="15427" y="459856"/>
                  <a:pt x="22263" y="482323"/>
                  <a:pt x="27295" y="504967"/>
                </a:cubicBezTo>
                <a:cubicBezTo>
                  <a:pt x="35116" y="540162"/>
                  <a:pt x="42157" y="567344"/>
                  <a:pt x="54591" y="600502"/>
                </a:cubicBezTo>
                <a:cubicBezTo>
                  <a:pt x="63193" y="623440"/>
                  <a:pt x="75574" y="645069"/>
                  <a:pt x="81886" y="668740"/>
                </a:cubicBezTo>
                <a:cubicBezTo>
                  <a:pt x="93840" y="713567"/>
                  <a:pt x="91952" y="762142"/>
                  <a:pt x="109182" y="805218"/>
                </a:cubicBezTo>
                <a:cubicBezTo>
                  <a:pt x="123600" y="841263"/>
                  <a:pt x="139429" y="876964"/>
                  <a:pt x="150125" y="914400"/>
                </a:cubicBezTo>
                <a:cubicBezTo>
                  <a:pt x="195483" y="1073149"/>
                  <a:pt x="123810" y="836431"/>
                  <a:pt x="177421" y="1050878"/>
                </a:cubicBezTo>
                <a:cubicBezTo>
                  <a:pt x="223859" y="1236633"/>
                  <a:pt x="180800" y="1058480"/>
                  <a:pt x="232012" y="1173708"/>
                </a:cubicBezTo>
                <a:cubicBezTo>
                  <a:pt x="243697" y="1200000"/>
                  <a:pt x="250209" y="1228299"/>
                  <a:pt x="259307" y="1255594"/>
                </a:cubicBezTo>
                <a:cubicBezTo>
                  <a:pt x="263856" y="1269242"/>
                  <a:pt x="264975" y="1284567"/>
                  <a:pt x="272955" y="1296537"/>
                </a:cubicBezTo>
                <a:lnTo>
                  <a:pt x="300251" y="1337481"/>
                </a:lnTo>
                <a:cubicBezTo>
                  <a:pt x="309349" y="1364776"/>
                  <a:pt x="319976" y="1391609"/>
                  <a:pt x="327546" y="1419367"/>
                </a:cubicBezTo>
                <a:cubicBezTo>
                  <a:pt x="333649" y="1441746"/>
                  <a:pt x="334529" y="1465387"/>
                  <a:pt x="341194" y="1487606"/>
                </a:cubicBezTo>
                <a:cubicBezTo>
                  <a:pt x="381883" y="1623236"/>
                  <a:pt x="357561" y="1484832"/>
                  <a:pt x="395785" y="1637731"/>
                </a:cubicBezTo>
                <a:cubicBezTo>
                  <a:pt x="404883" y="1674125"/>
                  <a:pt x="402270" y="1715700"/>
                  <a:pt x="423080" y="1746914"/>
                </a:cubicBezTo>
                <a:lnTo>
                  <a:pt x="477672" y="1828800"/>
                </a:lnTo>
                <a:cubicBezTo>
                  <a:pt x="482221" y="1842448"/>
                  <a:pt x="482332" y="1858510"/>
                  <a:pt x="491319" y="1869743"/>
                </a:cubicBezTo>
                <a:cubicBezTo>
                  <a:pt x="538890" y="1929207"/>
                  <a:pt x="583174" y="1964599"/>
                  <a:pt x="641445" y="2006221"/>
                </a:cubicBezTo>
                <a:cubicBezTo>
                  <a:pt x="654792" y="2015755"/>
                  <a:pt x="669266" y="2023675"/>
                  <a:pt x="682388" y="2033517"/>
                </a:cubicBezTo>
                <a:cubicBezTo>
                  <a:pt x="723884" y="2064639"/>
                  <a:pt x="762060" y="2100279"/>
                  <a:pt x="805218" y="2129051"/>
                </a:cubicBezTo>
                <a:cubicBezTo>
                  <a:pt x="818866" y="2138149"/>
                  <a:pt x="831490" y="2149011"/>
                  <a:pt x="846161" y="2156346"/>
                </a:cubicBezTo>
                <a:cubicBezTo>
                  <a:pt x="1083214" y="2274873"/>
                  <a:pt x="855554" y="2156473"/>
                  <a:pt x="982639" y="2210937"/>
                </a:cubicBezTo>
                <a:cubicBezTo>
                  <a:pt x="1100709" y="2261538"/>
                  <a:pt x="982141" y="2219870"/>
                  <a:pt x="1078173" y="2251881"/>
                </a:cubicBezTo>
                <a:cubicBezTo>
                  <a:pt x="1146412" y="2242782"/>
                  <a:pt x="1215523" y="2238767"/>
                  <a:pt x="1282889" y="2224585"/>
                </a:cubicBezTo>
                <a:cubicBezTo>
                  <a:pt x="1302797" y="2220394"/>
                  <a:pt x="1318360" y="2204243"/>
                  <a:pt x="1337480" y="2197290"/>
                </a:cubicBezTo>
                <a:cubicBezTo>
                  <a:pt x="1368605" y="2185972"/>
                  <a:pt x="1401170" y="2179093"/>
                  <a:pt x="1433015" y="2169994"/>
                </a:cubicBezTo>
                <a:cubicBezTo>
                  <a:pt x="1446663" y="2160896"/>
                  <a:pt x="1460611" y="2152233"/>
                  <a:pt x="1473958" y="2142699"/>
                </a:cubicBezTo>
                <a:cubicBezTo>
                  <a:pt x="1492467" y="2129478"/>
                  <a:pt x="1508204" y="2111927"/>
                  <a:pt x="1528549" y="2101755"/>
                </a:cubicBezTo>
                <a:cubicBezTo>
                  <a:pt x="1545326" y="2093367"/>
                  <a:pt x="1564943" y="2092657"/>
                  <a:pt x="1583140" y="2088108"/>
                </a:cubicBezTo>
                <a:cubicBezTo>
                  <a:pt x="1685411" y="2019928"/>
                  <a:pt x="1634568" y="2045701"/>
                  <a:pt x="1733266" y="2006221"/>
                </a:cubicBezTo>
                <a:cubicBezTo>
                  <a:pt x="1746914" y="1992573"/>
                  <a:pt x="1759555" y="1977839"/>
                  <a:pt x="1774209" y="1965278"/>
                </a:cubicBezTo>
                <a:cubicBezTo>
                  <a:pt x="1791479" y="1950475"/>
                  <a:pt x="1812716" y="1940418"/>
                  <a:pt x="1828800" y="1924334"/>
                </a:cubicBezTo>
                <a:cubicBezTo>
                  <a:pt x="1948532" y="1804600"/>
                  <a:pt x="1732282" y="1976250"/>
                  <a:pt x="1910686" y="1842448"/>
                </a:cubicBezTo>
                <a:cubicBezTo>
                  <a:pt x="1924334" y="1819702"/>
                  <a:pt x="1936212" y="1795795"/>
                  <a:pt x="1951630" y="1774209"/>
                </a:cubicBezTo>
                <a:cubicBezTo>
                  <a:pt x="1981779" y="1732001"/>
                  <a:pt x="2023967" y="1697772"/>
                  <a:pt x="2047164" y="1651379"/>
                </a:cubicBezTo>
                <a:cubicBezTo>
                  <a:pt x="2060812" y="1624084"/>
                  <a:pt x="2075479" y="1597275"/>
                  <a:pt x="2088107" y="1569493"/>
                </a:cubicBezTo>
                <a:cubicBezTo>
                  <a:pt x="2098245" y="1547190"/>
                  <a:pt x="2102419" y="1522029"/>
                  <a:pt x="2115403" y="1501254"/>
                </a:cubicBezTo>
                <a:cubicBezTo>
                  <a:pt x="2125632" y="1484887"/>
                  <a:pt x="2142698" y="1473959"/>
                  <a:pt x="2156346" y="1460311"/>
                </a:cubicBezTo>
                <a:cubicBezTo>
                  <a:pt x="2189745" y="1360114"/>
                  <a:pt x="2163297" y="1398769"/>
                  <a:pt x="2224585" y="1337481"/>
                </a:cubicBezTo>
                <a:cubicBezTo>
                  <a:pt x="2264993" y="1135446"/>
                  <a:pt x="2202715" y="1381222"/>
                  <a:pt x="2279176" y="1228299"/>
                </a:cubicBezTo>
                <a:cubicBezTo>
                  <a:pt x="2289550" y="1207551"/>
                  <a:pt x="2284209" y="1181598"/>
                  <a:pt x="2292824" y="1160060"/>
                </a:cubicBezTo>
                <a:cubicBezTo>
                  <a:pt x="2302676" y="1135431"/>
                  <a:pt x="2320119" y="1114567"/>
                  <a:pt x="2333767" y="1091821"/>
                </a:cubicBezTo>
                <a:cubicBezTo>
                  <a:pt x="2356513" y="1014484"/>
                  <a:pt x="2378535" y="936929"/>
                  <a:pt x="2402006" y="859809"/>
                </a:cubicBezTo>
                <a:cubicBezTo>
                  <a:pt x="2410383" y="832283"/>
                  <a:pt x="2420840" y="805422"/>
                  <a:pt x="2429301" y="777922"/>
                </a:cubicBezTo>
                <a:cubicBezTo>
                  <a:pt x="2439041" y="746268"/>
                  <a:pt x="2446624" y="713970"/>
                  <a:pt x="2456597" y="682388"/>
                </a:cubicBezTo>
                <a:cubicBezTo>
                  <a:pt x="2473925" y="627515"/>
                  <a:pt x="2511188" y="518615"/>
                  <a:pt x="2511188" y="518615"/>
                </a:cubicBezTo>
                <a:cubicBezTo>
                  <a:pt x="2549378" y="174908"/>
                  <a:pt x="2493076" y="699607"/>
                  <a:pt x="2538483" y="177421"/>
                </a:cubicBezTo>
                <a:cubicBezTo>
                  <a:pt x="2555991" y="-23928"/>
                  <a:pt x="2552131" y="180914"/>
                  <a:pt x="2552131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F52C8-D02D-367C-ED1C-A123548E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D07891A0-141E-8EB1-9A55-8482537BB870}"/>
              </a:ext>
            </a:extLst>
          </p:cNvPr>
          <p:cNvSpPr/>
          <p:nvPr/>
        </p:nvSpPr>
        <p:spPr>
          <a:xfrm>
            <a:off x="5194410" y="1600669"/>
            <a:ext cx="3409913" cy="295111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0D49C8-497D-4137-9808-ADA9BE5E8ED7}"/>
              </a:ext>
            </a:extLst>
          </p:cNvPr>
          <p:cNvSpPr/>
          <p:nvPr/>
        </p:nvSpPr>
        <p:spPr>
          <a:xfrm>
            <a:off x="453271" y="311587"/>
            <a:ext cx="5823942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Rappresentazione Grafica delle Funzioni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34D0450-91AA-64D6-3127-9CBDD0A1CA59}"/>
              </a:ext>
            </a:extLst>
          </p:cNvPr>
          <p:cNvSpPr/>
          <p:nvPr/>
        </p:nvSpPr>
        <p:spPr>
          <a:xfrm>
            <a:off x="665995" y="4188271"/>
            <a:ext cx="2577482" cy="77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0B7296-30E1-BAE3-FFB1-E50C7FC9015C}"/>
              </a:ext>
            </a:extLst>
          </p:cNvPr>
          <p:cNvSpPr/>
          <p:nvPr/>
        </p:nvSpPr>
        <p:spPr>
          <a:xfrm>
            <a:off x="11524174" y="3845167"/>
            <a:ext cx="2577482" cy="77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2813244-5F14-AFC1-C797-17AE6C7803F9}"/>
              </a:ext>
            </a:extLst>
          </p:cNvPr>
          <p:cNvSpPr/>
          <p:nvPr/>
        </p:nvSpPr>
        <p:spPr>
          <a:xfrm>
            <a:off x="5768111" y="1174286"/>
            <a:ext cx="3084753" cy="38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1CA57D5-8DF2-BD3B-DE68-1C2AC46CFE22}"/>
              </a:ext>
            </a:extLst>
          </p:cNvPr>
          <p:cNvSpPr/>
          <p:nvPr/>
        </p:nvSpPr>
        <p:spPr>
          <a:xfrm>
            <a:off x="4298998" y="5803985"/>
            <a:ext cx="2646032" cy="308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42C112F-601F-0890-8BE2-A31D2FAAC789}"/>
              </a:ext>
            </a:extLst>
          </p:cNvPr>
          <p:cNvSpPr/>
          <p:nvPr/>
        </p:nvSpPr>
        <p:spPr>
          <a:xfrm>
            <a:off x="9451426" y="5824550"/>
            <a:ext cx="2646032" cy="308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781C3B9-AF7C-2913-ED1D-649FFAC8AF3A}"/>
              </a:ext>
            </a:extLst>
          </p:cNvPr>
          <p:cNvSpPr/>
          <p:nvPr/>
        </p:nvSpPr>
        <p:spPr>
          <a:xfrm>
            <a:off x="4216737" y="3127105"/>
            <a:ext cx="2646032" cy="61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sz="105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0DC60B6B-2512-5CF0-F6B5-097272FC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814" y="2290795"/>
            <a:ext cx="383880" cy="38388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190BFD64-E399-846E-97A9-B6BAC8A1E26D}"/>
              </a:ext>
            </a:extLst>
          </p:cNvPr>
          <p:cNvSpPr/>
          <p:nvPr/>
        </p:nvSpPr>
        <p:spPr>
          <a:xfrm>
            <a:off x="453271" y="7930991"/>
            <a:ext cx="226683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Domini e Codomini</a:t>
            </a:r>
            <a:endParaRPr lang="en-US" sz="17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A258045-5DC5-341F-1A8C-8064F6E97832}"/>
              </a:ext>
            </a:extLst>
          </p:cNvPr>
          <p:cNvSpPr/>
          <p:nvPr/>
        </p:nvSpPr>
        <p:spPr>
          <a:xfrm>
            <a:off x="453271" y="8384262"/>
            <a:ext cx="1372385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Nel nostro contesto matematico:</a:t>
            </a:r>
            <a:endParaRPr lang="en-US" sz="85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6E4C0502-876C-1BE9-ADAC-64B22ECBDC30}"/>
              </a:ext>
            </a:extLst>
          </p:cNvPr>
          <p:cNvSpPr/>
          <p:nvPr/>
        </p:nvSpPr>
        <p:spPr>
          <a:xfrm>
            <a:off x="453271" y="8692991"/>
            <a:ext cx="6805255" cy="683300"/>
          </a:xfrm>
          <a:prstGeom prst="roundRect">
            <a:avLst>
              <a:gd name="adj" fmla="val 14929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5AFD924-4F58-B388-5E30-09BEEA567185}"/>
              </a:ext>
            </a:extLst>
          </p:cNvPr>
          <p:cNvSpPr/>
          <p:nvPr/>
        </p:nvSpPr>
        <p:spPr>
          <a:xfrm>
            <a:off x="581739" y="8821460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Dominio (A)</a:t>
            </a:r>
            <a:endParaRPr lang="en-US" sz="11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ABFF5C8-D34E-D078-9CED-0910D4819F31}"/>
              </a:ext>
            </a:extLst>
          </p:cNvPr>
          <p:cNvSpPr/>
          <p:nvPr/>
        </p:nvSpPr>
        <p:spPr>
          <a:xfrm>
            <a:off x="581739" y="9066490"/>
            <a:ext cx="654831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L'insieme dei numeri reali rappresentati sull'asse x. Ogni elemento del dominio è un valore di input della funzione.</a:t>
            </a:r>
            <a:endParaRPr lang="en-US" sz="8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53A62B0-B244-833F-99BC-4D647692BE39}"/>
              </a:ext>
            </a:extLst>
          </p:cNvPr>
          <p:cNvSpPr/>
          <p:nvPr/>
        </p:nvSpPr>
        <p:spPr>
          <a:xfrm>
            <a:off x="7371755" y="8692991"/>
            <a:ext cx="6805374" cy="683300"/>
          </a:xfrm>
          <a:prstGeom prst="roundRect">
            <a:avLst>
              <a:gd name="adj" fmla="val 14929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775963D-F26D-40D7-100C-6FF0F5D46B1B}"/>
              </a:ext>
            </a:extLst>
          </p:cNvPr>
          <p:cNvSpPr/>
          <p:nvPr/>
        </p:nvSpPr>
        <p:spPr>
          <a:xfrm>
            <a:off x="7500223" y="8821460"/>
            <a:ext cx="1416725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Codominio (B)</a:t>
            </a:r>
            <a:endParaRPr lang="en-US" sz="11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C0BBDFE-F267-5366-8969-E797A2DE8D75}"/>
              </a:ext>
            </a:extLst>
          </p:cNvPr>
          <p:cNvSpPr/>
          <p:nvPr/>
        </p:nvSpPr>
        <p:spPr>
          <a:xfrm>
            <a:off x="7500223" y="9066490"/>
            <a:ext cx="654843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L'insieme dei numeri reali rappresentati sull'asse y. Per ogni x, la funzione produce un solo valore y.</a:t>
            </a:r>
            <a:endParaRPr lang="en-US" sz="85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A6E04DF9-4CCB-1AFC-263B-C9A36944309F}"/>
              </a:ext>
            </a:extLst>
          </p:cNvPr>
          <p:cNvSpPr/>
          <p:nvPr/>
        </p:nvSpPr>
        <p:spPr>
          <a:xfrm>
            <a:off x="453271" y="9503688"/>
            <a:ext cx="1372385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Questa relazione matematica è alla base dei sistemi di elaborazione delle informazioni.</a:t>
            </a:r>
            <a:endParaRPr lang="en-US" sz="850" dirty="0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AA6E47A-FB5A-540B-FD34-292C7ED501B4}"/>
              </a:ext>
            </a:extLst>
          </p:cNvPr>
          <p:cNvCxnSpPr>
            <a:cxnSpLocks/>
          </p:cNvCxnSpPr>
          <p:nvPr/>
        </p:nvCxnSpPr>
        <p:spPr>
          <a:xfrm flipV="1">
            <a:off x="4580573" y="1716972"/>
            <a:ext cx="0" cy="360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ECC1E8B8-F228-3C21-46DB-8EC747C043BD}"/>
              </a:ext>
            </a:extLst>
          </p:cNvPr>
          <p:cNvCxnSpPr/>
          <p:nvPr/>
        </p:nvCxnSpPr>
        <p:spPr>
          <a:xfrm>
            <a:off x="3860493" y="4021228"/>
            <a:ext cx="6480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F838A1E-EEAE-2C9F-DB97-33C3753152E5}"/>
              </a:ext>
            </a:extLst>
          </p:cNvPr>
          <p:cNvSpPr txBox="1"/>
          <p:nvPr/>
        </p:nvSpPr>
        <p:spPr>
          <a:xfrm>
            <a:off x="6236757" y="4669300"/>
            <a:ext cx="4752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A:l’insieme dei numeri reali (asse x)</a:t>
            </a:r>
          </a:p>
          <a:p>
            <a:r>
              <a:rPr lang="it-IT" dirty="0"/>
              <a:t>B:iniseme dei numeri reali (asse y)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7BB371B-AAB5-A5D9-499C-883E338A9355}"/>
              </a:ext>
            </a:extLst>
          </p:cNvPr>
          <p:cNvSpPr txBox="1"/>
          <p:nvPr/>
        </p:nvSpPr>
        <p:spPr>
          <a:xfrm>
            <a:off x="9435991" y="4237252"/>
            <a:ext cx="90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48FA08E-F99A-652A-2AEF-2F3157757B77}"/>
              </a:ext>
            </a:extLst>
          </p:cNvPr>
          <p:cNvSpPr txBox="1"/>
          <p:nvPr/>
        </p:nvSpPr>
        <p:spPr>
          <a:xfrm>
            <a:off x="4868605" y="2005004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Y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89E45029-9581-1512-74A2-921DB1BA26B2}"/>
              </a:ext>
            </a:extLst>
          </p:cNvPr>
          <p:cNvSpPr/>
          <p:nvPr/>
        </p:nvSpPr>
        <p:spPr>
          <a:xfrm>
            <a:off x="7719934" y="4021228"/>
            <a:ext cx="119922" cy="935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9A70BFAC-2545-A55D-E5A2-E07F214772BF}"/>
              </a:ext>
            </a:extLst>
          </p:cNvPr>
          <p:cNvCxnSpPr>
            <a:cxnSpLocks/>
          </p:cNvCxnSpPr>
          <p:nvPr/>
        </p:nvCxnSpPr>
        <p:spPr>
          <a:xfrm>
            <a:off x="7767633" y="1922366"/>
            <a:ext cx="0" cy="2484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50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751"/>
            <a:ext cx="6935986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Tipi di Funzioni e Loro Proprietà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25441"/>
            <a:ext cx="5077897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Caratteristiche delle Funzioni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215753"/>
            <a:ext cx="7661077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funzioni possono avere diverse proprietà che ne determinano il comportamento matematico: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3790" y="2945368"/>
            <a:ext cx="3746183" cy="1894642"/>
          </a:xfrm>
          <a:prstGeom prst="roundRect">
            <a:avLst>
              <a:gd name="adj" fmla="val 801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93790" y="2945368"/>
            <a:ext cx="45720" cy="1894642"/>
          </a:xfrm>
          <a:prstGeom prst="roundRect">
            <a:avLst>
              <a:gd name="adj" fmla="val 332094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30962" y="313682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Iniettiva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30962" y="3568898"/>
            <a:ext cx="3317558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Elementi diversi del dominio hanno immagini diverse nel codominio (ogni y ha al massimo un x che lo genera).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8565" y="2945368"/>
            <a:ext cx="3746302" cy="1894642"/>
          </a:xfrm>
          <a:prstGeom prst="roundRect">
            <a:avLst>
              <a:gd name="adj" fmla="val 801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708565" y="2945368"/>
            <a:ext cx="45720" cy="1894642"/>
          </a:xfrm>
          <a:prstGeom prst="roundRect">
            <a:avLst>
              <a:gd name="adj" fmla="val 332094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45737" y="3136821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Suriettiva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45737" y="3568898"/>
            <a:ext cx="3317677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Ogni elemento del codominio è immagine di almeno un elemento del dominio (ogni y ha almeno un x che lo genera).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3790" y="5008602"/>
            <a:ext cx="3746183" cy="1894642"/>
          </a:xfrm>
          <a:prstGeom prst="roundRect">
            <a:avLst>
              <a:gd name="adj" fmla="val 801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93790" y="5008602"/>
            <a:ext cx="45720" cy="1894642"/>
          </a:xfrm>
          <a:prstGeom prst="roundRect">
            <a:avLst>
              <a:gd name="adj" fmla="val 332094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30962" y="520005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Biiettiva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30962" y="5632133"/>
            <a:ext cx="3317558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funzione è sia iniettiva che suriettiva (ogni y ha esattamente un x che lo genera). </a:t>
            </a:r>
            <a:r>
              <a:rPr lang="en-US" sz="13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Solo le funzioni biiettive sono invertibili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73966" y="1608653"/>
            <a:ext cx="497014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3790" y="7282815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Nei sistemi di elaborazione delle informazioni, le proprietà delle funzioni determinano come possono essere utilizzate per trasformare e proteggere i dati.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linea, Diagramma, diagramma, pendio&#10;&#10;Il contenuto generato dall'IA potrebbe non essere corretto.">
            <a:extLst>
              <a:ext uri="{FF2B5EF4-FFF2-40B4-BE49-F238E27FC236}">
                <a16:creationId xmlns:a16="http://schemas.microsoft.com/office/drawing/2014/main" id="{025F9CFD-1105-7FF6-5308-30C4BBDB5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36529" y="2447543"/>
            <a:ext cx="7262501" cy="454353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EBCC9C8-DAC2-9486-B71A-F11273FAA921}"/>
              </a:ext>
            </a:extLst>
          </p:cNvPr>
          <p:cNvSpPr txBox="1"/>
          <p:nvPr/>
        </p:nvSpPr>
        <p:spPr>
          <a:xfrm>
            <a:off x="1836529" y="6991078"/>
            <a:ext cx="72625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3" tooltip="https://www.wired.it/attualita/2016/06/21/maturita-2016-simulazione-prova-dimatematica/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4" tooltip="https://creativecommons.org/licenses/by-nc-nd/3.0/"/>
              </a:rPr>
              <a:t>CC BY-NC-ND</a:t>
            </a:r>
            <a:endParaRPr lang="it-IT" sz="9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27B8690-BCC4-046B-360E-372ED8F1E982}"/>
              </a:ext>
            </a:extLst>
          </p:cNvPr>
          <p:cNvSpPr txBox="1"/>
          <p:nvPr/>
        </p:nvSpPr>
        <p:spPr>
          <a:xfrm>
            <a:off x="2488367" y="499858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/>
              <a:t>NON TUTTE LE FUNZIONI SONO INVERTIBILI ,MA COSA SIGNIFICA?</a:t>
            </a:r>
          </a:p>
          <a:p>
            <a:pPr algn="just"/>
            <a:r>
              <a:rPr lang="it-IT" sz="1800" dirty="0"/>
              <a:t> SE y=F(X)      ESSENDO UNA FUNZIONE Y DIPENDE DA X</a:t>
            </a:r>
          </a:p>
          <a:p>
            <a:pPr algn="just"/>
            <a:r>
              <a:rPr lang="it-IT" sz="1800" dirty="0"/>
              <a:t> E’ INVERTIBILE SIGNIFICA CHE DATO  Y IO POSSO RISALIRE AD x</a:t>
            </a:r>
          </a:p>
          <a:p>
            <a:pPr algn="just"/>
            <a:endParaRPr lang="it-IT" sz="1800" dirty="0"/>
          </a:p>
          <a:p>
            <a:pPr algn="just"/>
            <a:r>
              <a:rPr lang="it-IT" sz="1800" b="1" dirty="0"/>
              <a:t>QUINDI,SE LA FUNZIONE DI HASH NON  E’ INVERTIBILE,COSA SIGNIFICA?</a:t>
            </a:r>
          </a:p>
        </p:txBody>
      </p:sp>
    </p:spTree>
    <p:extLst>
      <p:ext uri="{BB962C8B-B14F-4D97-AF65-F5344CB8AC3E}">
        <p14:creationId xmlns:p14="http://schemas.microsoft.com/office/powerpoint/2010/main" val="25714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2223"/>
            <a:ext cx="7675602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Funzioni Speciali in Informatica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08415"/>
            <a:ext cx="4347567" cy="754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2266" y="255103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Input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82266" y="2958822"/>
            <a:ext cx="397061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Dati in ingresso che devono essere elaborati (elementi del dominio A).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1608415"/>
            <a:ext cx="4347567" cy="7541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29833" y="255103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Trasformazione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29833" y="2958822"/>
            <a:ext cx="397061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Algoritmo che elabora i dati secondo regole precise (la funzione F).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1608415"/>
            <a:ext cx="4347567" cy="7541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400" y="255103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Output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677400" y="2958822"/>
            <a:ext cx="397061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Risultato dell'elaborazione (elementi del codominio B).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93790" y="4033480"/>
            <a:ext cx="5277207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Applicazioni in Informatica</a:t>
            </a:r>
            <a:endParaRPr lang="en-US" sz="2950" dirty="0"/>
          </a:p>
        </p:txBody>
      </p:sp>
      <p:sp>
        <p:nvSpPr>
          <p:cNvPr id="13" name="Text 8"/>
          <p:cNvSpPr/>
          <p:nvPr/>
        </p:nvSpPr>
        <p:spPr>
          <a:xfrm>
            <a:off x="793790" y="4787503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funzioni matematiche sono fondamentali in informatica per: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93790" y="5301258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Algoritmi di ordinamento e ricerca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93790" y="5668923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Compressione dei dati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93790" y="6036588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Crittografia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93790" y="6404253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Funzioni hash (particolarmente importanti per la sicurezza)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93790" y="6771918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Elaborazione di segnali e immagini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93790" y="7285673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sistemi di elaborazione delle informazioni si basano su questi concetti matematici per trasformare dati in modo efficiente e sicuro.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8057"/>
            <a:ext cx="5897642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Funzioni Invertibili e Non Invertibili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373624"/>
            <a:ext cx="361152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Cosa significa "invertibile"?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1824990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y = F(x) è una funzione: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303" y="2224921"/>
            <a:ext cx="6364129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È </a:t>
            </a:r>
            <a:r>
              <a:rPr lang="en-US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invertibile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quando, dato y, posso risalire univocamente al valore x che lo ha generato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7302" y="2704473"/>
            <a:ext cx="6364129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È </a:t>
            </a:r>
            <a:r>
              <a:rPr lang="en-US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 invertibile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quando, dato y, non posso determinare con certezza quale x lo ha generato (o è impossibile risalire a x)</a:t>
            </a: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165" y="1455496"/>
            <a:ext cx="4136588" cy="38800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89578" y="4207668"/>
            <a:ext cx="1263175" cy="155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Funzione invertibile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203984" y="4130109"/>
            <a:ext cx="1398127" cy="3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Funzione non invertibile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28396" y="4130109"/>
            <a:ext cx="467421" cy="3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Valore 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5111" y="4239528"/>
            <a:ext cx="438138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Implicazioni per le Funzioni Hash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95111" y="4899534"/>
            <a:ext cx="1304282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la funzione di hash non è invertibile, significa che: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7850" y="5459188"/>
            <a:ext cx="13042821" cy="1570920"/>
          </a:xfrm>
          <a:prstGeom prst="roundRect">
            <a:avLst>
              <a:gd name="adj" fmla="val 15389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34" y="6660952"/>
            <a:ext cx="161211" cy="1289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01872" y="5601745"/>
            <a:ext cx="12494776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Dato il valore hash (output), è computazionalmente impossibile o estremamente difficile risalire al valore originale (input) che lo ha generato. Questa è una proprietà fondamentale per la sicurezza informatica!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0" y="7447794"/>
            <a:ext cx="1304282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Questa caratteristica è essenziale nei sistemi di elaborazione delle informazioni per garantire la sicurezza dei dati sensibili.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9480"/>
            <a:ext cx="915947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 Funzione Hash: Applicazioni Pratiche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604129"/>
            <a:ext cx="6948607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Esempi di Utilizzo della Funzione Hash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51591"/>
            <a:ext cx="446484" cy="4464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516" y="235755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Gestione Password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463516" y="2815114"/>
            <a:ext cx="630769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sistemi non memorizzano le password in chiaro ma il loro hash. Quando un utente inserisce la password, il sistema calcola l'hash e lo confronta con quello memorizzato.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029551"/>
            <a:ext cx="446484" cy="4464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516" y="4135517"/>
            <a:ext cx="247816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Criptovalute (Bitcoin)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63516" y="4593074"/>
            <a:ext cx="63076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transazioni vengono validate e collegate tra loro attraverso funzioni hash, creando una catena di blocchi immutabile (blockchain).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521762"/>
            <a:ext cx="446484" cy="4464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516" y="5627727"/>
            <a:ext cx="275570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Identificazione Malware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463516" y="6085284"/>
            <a:ext cx="630769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Gli hash dei file vengono confrontati con database di firme di malware noti per identificare rapidamente file dannosi senza analizzare l'intero contenuto.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214598" y="1604129"/>
            <a:ext cx="334994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Caratteristiche Fondamentali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8214598" y="2083951"/>
            <a:ext cx="5629513" cy="1146215"/>
          </a:xfrm>
          <a:prstGeom prst="roundRect">
            <a:avLst>
              <a:gd name="adj" fmla="val 1402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0"/>
          <p:cNvSpPr/>
          <p:nvPr/>
        </p:nvSpPr>
        <p:spPr>
          <a:xfrm>
            <a:off x="8214598" y="2083951"/>
            <a:ext cx="45720" cy="1146215"/>
          </a:xfrm>
          <a:prstGeom prst="roundRect">
            <a:avLst>
              <a:gd name="adj" fmla="val 35162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1"/>
          <p:cNvSpPr/>
          <p:nvPr/>
        </p:nvSpPr>
        <p:spPr>
          <a:xfrm>
            <a:off x="8461772" y="228540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Unidirezionalità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461772" y="2742962"/>
            <a:ext cx="51808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Facile calcolare l'hash, impossibile risalire all'originale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214598" y="3408759"/>
            <a:ext cx="5629513" cy="1146215"/>
          </a:xfrm>
          <a:prstGeom prst="roundRect">
            <a:avLst>
              <a:gd name="adj" fmla="val 1402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8214598" y="3408759"/>
            <a:ext cx="45720" cy="1146215"/>
          </a:xfrm>
          <a:prstGeom prst="roundRect">
            <a:avLst>
              <a:gd name="adj" fmla="val 35162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8461772" y="361021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Determinismo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8461772" y="4067770"/>
            <a:ext cx="51808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 stesso input produce sempre lo stesso output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14598" y="4733568"/>
            <a:ext cx="5629513" cy="1431965"/>
          </a:xfrm>
          <a:prstGeom prst="roundRect">
            <a:avLst>
              <a:gd name="adj" fmla="val 112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8214598" y="4733568"/>
            <a:ext cx="45720" cy="1431965"/>
          </a:xfrm>
          <a:prstGeom prst="roundRect">
            <a:avLst>
              <a:gd name="adj" fmla="val 35162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8461772" y="493502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Effetto Valanga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8461772" y="5392579"/>
            <a:ext cx="518088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Piccole modifiche all'input causano grandi cambiamenti nell'output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93790" y="7344251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sistemi di elaborazione delle informazioni sfruttano queste proprietà per garantire sicurezza e integrità dei dati.</a:t>
            </a:r>
            <a:endParaRPr lang="en-US" sz="1400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A96E371-7D92-7866-327D-1F51044BA1CA}"/>
              </a:ext>
            </a:extLst>
          </p:cNvPr>
          <p:cNvSpPr txBox="1"/>
          <p:nvPr/>
        </p:nvSpPr>
        <p:spPr>
          <a:xfrm>
            <a:off x="10073390" y="734556"/>
            <a:ext cx="25183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hlinkClick r:id="rId6"/>
              </a:rPr>
              <a:t>Bing Video</a:t>
            </a:r>
            <a:endParaRPr lang="it-IT" sz="32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524589"/>
            <a:ext cx="13107591" cy="118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Blockchain: Un'Applicazione Avanzata delle Funzioni Hash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61405" y="1999774"/>
            <a:ext cx="3911560" cy="47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Cos'è la Blockchain?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761405" y="2761178"/>
            <a:ext cx="13107591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È un'infrastruttura digitale utilizzata, ad esempio, da Bitcoin per la gestione del denaro digitale. Si basa fortemente sulle proprietà delle funzioni hash per garantire sicurezza e immutabilità.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1405" y="3584377"/>
            <a:ext cx="6458664" cy="1705808"/>
          </a:xfrm>
          <a:prstGeom prst="roundRect">
            <a:avLst>
              <a:gd name="adj" fmla="val 1004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51667" y="3774638"/>
            <a:ext cx="311848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Controllo Decentralizzato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51667" y="4186238"/>
            <a:ext cx="6078141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differenza dei sistemi bancari tradizionali, nessuna autorità centrale ha il controllo completo. La validazione avviene attraverso il consenso distribuito.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10331" y="3584377"/>
            <a:ext cx="6458664" cy="1705808"/>
          </a:xfrm>
          <a:prstGeom prst="roundRect">
            <a:avLst>
              <a:gd name="adj" fmla="val 1004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600593" y="3774638"/>
            <a:ext cx="2379464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Sicurezza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00593" y="4186238"/>
            <a:ext cx="6078141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struttura matematica basata su funzioni hash rende la blockchain </a:t>
            </a:r>
            <a:r>
              <a:rPr lang="en-US" sz="14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praticamente impossibile da manomettere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61405" y="5480447"/>
            <a:ext cx="6458664" cy="1401247"/>
          </a:xfrm>
          <a:prstGeom prst="roundRect">
            <a:avLst>
              <a:gd name="adj" fmla="val 1222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51667" y="5670709"/>
            <a:ext cx="2379464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Disponibilità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51667" y="6082308"/>
            <a:ext cx="6078141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sistema è sempre online, senza interruzioni di servizio, grazie alla sua natura distribuita.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10331" y="5480447"/>
            <a:ext cx="6458664" cy="1401247"/>
          </a:xfrm>
          <a:prstGeom prst="roundRect">
            <a:avLst>
              <a:gd name="adj" fmla="val 1222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600593" y="5670709"/>
            <a:ext cx="2379464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Trasparenza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600593" y="6082308"/>
            <a:ext cx="6078141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Tutte le transazioni sono pubblicamente consultabili, garantendo verificabilità e tracciabilità.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1405" y="7095768"/>
            <a:ext cx="13107591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L'elemento funzionale fondamentale è il </a:t>
            </a: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blocco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che contiene la "storia" della blockchain attraverso collegamenti crittografici basati su funzioni hash.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534948"/>
            <a:ext cx="7504748" cy="48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Struttura dei Blocchi nella Blockchain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77954" y="1409938"/>
            <a:ext cx="3939659" cy="38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Cosa contiene un blocco?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777954" y="1973937"/>
            <a:ext cx="7692866" cy="1004292"/>
          </a:xfrm>
          <a:prstGeom prst="roundRect">
            <a:avLst>
              <a:gd name="adj" fmla="val 1394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56310" y="2152293"/>
            <a:ext cx="2156222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Dati della transazione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6310" y="2550914"/>
            <a:ext cx="7336155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Nel caso di Bitcoin: mittente, destinatario e importo della transazione.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954" y="3133725"/>
            <a:ext cx="7692866" cy="1004292"/>
          </a:xfrm>
          <a:prstGeom prst="roundRect">
            <a:avLst>
              <a:gd name="adj" fmla="val 1394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8" name="Text 6"/>
          <p:cNvSpPr/>
          <p:nvPr/>
        </p:nvSpPr>
        <p:spPr>
          <a:xfrm>
            <a:off x="956310" y="3312081"/>
            <a:ext cx="2684859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Hash del blocco precedente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6310" y="3710702"/>
            <a:ext cx="7336155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Funziona come un'</a:t>
            </a:r>
            <a:r>
              <a:rPr lang="en-US" sz="16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impronta digitale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che collega ogni blocco a quello che lo precede.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954" y="4293513"/>
            <a:ext cx="7692866" cy="1004292"/>
          </a:xfrm>
          <a:prstGeom prst="roundRect">
            <a:avLst>
              <a:gd name="adj" fmla="val 1394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1" name="Text 9"/>
          <p:cNvSpPr/>
          <p:nvPr/>
        </p:nvSpPr>
        <p:spPr>
          <a:xfrm>
            <a:off x="956310" y="4471868"/>
            <a:ext cx="1945005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6310" y="4870490"/>
            <a:ext cx="7336155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e ora della creazione del blocco, per garantire l'ordine cronologico.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954" y="5453301"/>
            <a:ext cx="7692866" cy="1004292"/>
          </a:xfrm>
          <a:prstGeom prst="roundRect">
            <a:avLst>
              <a:gd name="adj" fmla="val 1394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4" name="Text 12"/>
          <p:cNvSpPr/>
          <p:nvPr/>
        </p:nvSpPr>
        <p:spPr>
          <a:xfrm>
            <a:off x="956310" y="5631656"/>
            <a:ext cx="1945005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6310" y="6030278"/>
            <a:ext cx="7336155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Numero utilizzato nel processo di mining per trovare un hash valido.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954" y="6632615"/>
            <a:ext cx="7692866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Ogni blocco contiene l'impronta (hash) di quello precedente. </a:t>
            </a:r>
            <a:r>
              <a:rPr lang="en-US" sz="16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si modificasse un blocco, verrebbero invalidati tutti i blocchi successivi della catena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193" y="1429464"/>
            <a:ext cx="4001572" cy="206132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459699" y="1592980"/>
            <a:ext cx="1124896" cy="15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Dati del Blocco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122681" y="3174355"/>
            <a:ext cx="1124896" cy="15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Hash Precedente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96532" y="1592980"/>
            <a:ext cx="1124895" cy="15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Hash Personale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459514" y="3092501"/>
            <a:ext cx="1124895" cy="30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Collegamento Catena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133364" y="1592980"/>
            <a:ext cx="1124896" cy="15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Modifica ≠ Valida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285274" y="7515985"/>
            <a:ext cx="1307449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Questa struttura a catena garantisce l'immutabilità del registro, fondamentale per i sistemi di elaborazione delle informazioni basati su blockchain.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428BC2F-2490-BA0A-17F7-882B9C9561BE}"/>
              </a:ext>
            </a:extLst>
          </p:cNvPr>
          <p:cNvSpPr/>
          <p:nvPr/>
        </p:nvSpPr>
        <p:spPr>
          <a:xfrm>
            <a:off x="4529139" y="3866912"/>
            <a:ext cx="901776" cy="1008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DB4BE40-A95C-0AEE-EFB3-CAADE92CE16A}"/>
              </a:ext>
            </a:extLst>
          </p:cNvPr>
          <p:cNvSpPr/>
          <p:nvPr/>
        </p:nvSpPr>
        <p:spPr>
          <a:xfrm>
            <a:off x="5953810" y="3899874"/>
            <a:ext cx="802983" cy="10081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06D7C3A-25A9-D5F3-8526-7F30670C54D6}"/>
              </a:ext>
            </a:extLst>
          </p:cNvPr>
          <p:cNvSpPr/>
          <p:nvPr/>
        </p:nvSpPr>
        <p:spPr>
          <a:xfrm>
            <a:off x="7177946" y="3899874"/>
            <a:ext cx="901776" cy="10081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F756A1C-7B4C-B3E0-16AA-91B806879EA4}"/>
              </a:ext>
            </a:extLst>
          </p:cNvPr>
          <p:cNvCxnSpPr>
            <a:cxnSpLocks/>
          </p:cNvCxnSpPr>
          <p:nvPr/>
        </p:nvCxnSpPr>
        <p:spPr>
          <a:xfrm>
            <a:off x="4980027" y="3868662"/>
            <a:ext cx="59372" cy="100636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Figura a mano libera: forma 6">
            <a:extLst>
              <a:ext uri="{FF2B5EF4-FFF2-40B4-BE49-F238E27FC236}">
                <a16:creationId xmlns:a16="http://schemas.microsoft.com/office/drawing/2014/main" id="{E70AA4C6-65AB-C8F1-585C-E031F5361389}"/>
              </a:ext>
            </a:extLst>
          </p:cNvPr>
          <p:cNvSpPr/>
          <p:nvPr/>
        </p:nvSpPr>
        <p:spPr>
          <a:xfrm>
            <a:off x="5431819" y="4197177"/>
            <a:ext cx="573206" cy="357207"/>
          </a:xfrm>
          <a:custGeom>
            <a:avLst/>
            <a:gdLst>
              <a:gd name="connsiteX0" fmla="*/ 0 w 573206"/>
              <a:gd name="connsiteY0" fmla="*/ 316263 h 357207"/>
              <a:gd name="connsiteX1" fmla="*/ 27296 w 573206"/>
              <a:gd name="connsiteY1" fmla="*/ 193433 h 357207"/>
              <a:gd name="connsiteX2" fmla="*/ 68239 w 573206"/>
              <a:gd name="connsiteY2" fmla="*/ 179786 h 357207"/>
              <a:gd name="connsiteX3" fmla="*/ 177421 w 573206"/>
              <a:gd name="connsiteY3" fmla="*/ 166138 h 357207"/>
              <a:gd name="connsiteX4" fmla="*/ 245660 w 573206"/>
              <a:gd name="connsiteY4" fmla="*/ 152490 h 357207"/>
              <a:gd name="connsiteX5" fmla="*/ 491320 w 573206"/>
              <a:gd name="connsiteY5" fmla="*/ 166138 h 357207"/>
              <a:gd name="connsiteX6" fmla="*/ 491320 w 573206"/>
              <a:gd name="connsiteY6" fmla="*/ 261672 h 357207"/>
              <a:gd name="connsiteX7" fmla="*/ 382138 w 573206"/>
              <a:gd name="connsiteY7" fmla="*/ 275320 h 357207"/>
              <a:gd name="connsiteX8" fmla="*/ 300251 w 573206"/>
              <a:gd name="connsiteY8" fmla="*/ 357207 h 357207"/>
              <a:gd name="connsiteX9" fmla="*/ 382138 w 573206"/>
              <a:gd name="connsiteY9" fmla="*/ 343559 h 357207"/>
              <a:gd name="connsiteX10" fmla="*/ 477672 w 573206"/>
              <a:gd name="connsiteY10" fmla="*/ 329911 h 357207"/>
              <a:gd name="connsiteX11" fmla="*/ 545911 w 573206"/>
              <a:gd name="connsiteY11" fmla="*/ 316263 h 357207"/>
              <a:gd name="connsiteX12" fmla="*/ 436729 w 573206"/>
              <a:gd name="connsiteY12" fmla="*/ 207081 h 357207"/>
              <a:gd name="connsiteX13" fmla="*/ 382138 w 573206"/>
              <a:gd name="connsiteY13" fmla="*/ 125195 h 357207"/>
              <a:gd name="connsiteX14" fmla="*/ 368490 w 573206"/>
              <a:gd name="connsiteY14" fmla="*/ 43308 h 357207"/>
              <a:gd name="connsiteX15" fmla="*/ 354842 w 573206"/>
              <a:gd name="connsiteY15" fmla="*/ 2365 h 357207"/>
              <a:gd name="connsiteX16" fmla="*/ 450376 w 573206"/>
              <a:gd name="connsiteY16" fmla="*/ 179786 h 357207"/>
              <a:gd name="connsiteX17" fmla="*/ 504967 w 573206"/>
              <a:gd name="connsiteY17" fmla="*/ 234377 h 357207"/>
              <a:gd name="connsiteX18" fmla="*/ 532263 w 573206"/>
              <a:gd name="connsiteY18" fmla="*/ 288968 h 357207"/>
              <a:gd name="connsiteX19" fmla="*/ 573206 w 573206"/>
              <a:gd name="connsiteY19" fmla="*/ 316263 h 357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73206" h="357207">
                <a:moveTo>
                  <a:pt x="0" y="316263"/>
                </a:moveTo>
                <a:cubicBezTo>
                  <a:pt x="9099" y="275320"/>
                  <a:pt x="8539" y="230947"/>
                  <a:pt x="27296" y="193433"/>
                </a:cubicBezTo>
                <a:cubicBezTo>
                  <a:pt x="33730" y="180566"/>
                  <a:pt x="54085" y="182359"/>
                  <a:pt x="68239" y="179786"/>
                </a:cubicBezTo>
                <a:cubicBezTo>
                  <a:pt x="104325" y="173225"/>
                  <a:pt x="141170" y="171715"/>
                  <a:pt x="177421" y="166138"/>
                </a:cubicBezTo>
                <a:cubicBezTo>
                  <a:pt x="200348" y="162611"/>
                  <a:pt x="222914" y="157039"/>
                  <a:pt x="245660" y="152490"/>
                </a:cubicBezTo>
                <a:cubicBezTo>
                  <a:pt x="327547" y="157039"/>
                  <a:pt x="412007" y="145266"/>
                  <a:pt x="491320" y="166138"/>
                </a:cubicBezTo>
                <a:cubicBezTo>
                  <a:pt x="506758" y="170201"/>
                  <a:pt x="512201" y="252392"/>
                  <a:pt x="491320" y="261672"/>
                </a:cubicBezTo>
                <a:cubicBezTo>
                  <a:pt x="457804" y="276568"/>
                  <a:pt x="418532" y="270771"/>
                  <a:pt x="382138" y="275320"/>
                </a:cubicBezTo>
                <a:cubicBezTo>
                  <a:pt x="226770" y="337467"/>
                  <a:pt x="201836" y="307999"/>
                  <a:pt x="300251" y="357207"/>
                </a:cubicBezTo>
                <a:lnTo>
                  <a:pt x="382138" y="343559"/>
                </a:lnTo>
                <a:cubicBezTo>
                  <a:pt x="413932" y="338668"/>
                  <a:pt x="445942" y="335199"/>
                  <a:pt x="477672" y="329911"/>
                </a:cubicBezTo>
                <a:cubicBezTo>
                  <a:pt x="500553" y="326097"/>
                  <a:pt x="523165" y="320812"/>
                  <a:pt x="545911" y="316263"/>
                </a:cubicBezTo>
                <a:cubicBezTo>
                  <a:pt x="509517" y="279869"/>
                  <a:pt x="453005" y="255909"/>
                  <a:pt x="436729" y="207081"/>
                </a:cubicBezTo>
                <a:cubicBezTo>
                  <a:pt x="416977" y="147828"/>
                  <a:pt x="433253" y="176310"/>
                  <a:pt x="382138" y="125195"/>
                </a:cubicBezTo>
                <a:cubicBezTo>
                  <a:pt x="377589" y="97899"/>
                  <a:pt x="374493" y="70321"/>
                  <a:pt x="368490" y="43308"/>
                </a:cubicBezTo>
                <a:cubicBezTo>
                  <a:pt x="365369" y="29265"/>
                  <a:pt x="347441" y="-9971"/>
                  <a:pt x="354842" y="2365"/>
                </a:cubicBezTo>
                <a:cubicBezTo>
                  <a:pt x="384523" y="51834"/>
                  <a:pt x="412471" y="131051"/>
                  <a:pt x="450376" y="179786"/>
                </a:cubicBezTo>
                <a:cubicBezTo>
                  <a:pt x="466175" y="200100"/>
                  <a:pt x="489526" y="213789"/>
                  <a:pt x="504967" y="234377"/>
                </a:cubicBezTo>
                <a:cubicBezTo>
                  <a:pt x="517174" y="250653"/>
                  <a:pt x="519238" y="273339"/>
                  <a:pt x="532263" y="288968"/>
                </a:cubicBezTo>
                <a:cubicBezTo>
                  <a:pt x="542764" y="301569"/>
                  <a:pt x="573206" y="316263"/>
                  <a:pt x="573206" y="31626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C66055D-158D-1487-4E9B-C1381C21A6E2}"/>
              </a:ext>
            </a:extLst>
          </p:cNvPr>
          <p:cNvSpPr txBox="1"/>
          <p:nvPr/>
        </p:nvSpPr>
        <p:spPr>
          <a:xfrm>
            <a:off x="2008682" y="131010"/>
            <a:ext cx="118722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Ogni BLOCCO CONTIENE L’IMPRONTA(HASH) DI QUELLO PRECEDENTE</a:t>
            </a:r>
            <a:r>
              <a:rPr lang="it-IT" sz="2400" dirty="0"/>
              <a:t>,QUINDI SE SI VOLESSE AD ESEMPIO MODIFICARE UN BLOCCO VERREBBERO INVALIDATI TUTTI I BLOCCHI DELLA CATENA</a:t>
            </a:r>
          </a:p>
          <a:p>
            <a:endParaRPr lang="it-IT" sz="2400" dirty="0"/>
          </a:p>
          <a:p>
            <a:r>
              <a:rPr lang="it-IT" sz="2400" b="1" dirty="0"/>
              <a:t>COSA CONTIENE UN BLOCCO?</a:t>
            </a:r>
          </a:p>
          <a:p>
            <a:r>
              <a:rPr lang="it-IT" sz="2400" dirty="0"/>
              <a:t>I dati della transazione (nel caso del bitcoin il mittente ,il destinatario e quanto intendo transare),il puntatore al blocco precedente(HASH=IMPRONTA DIGITALE ) E QUELLO AL BLOCCO SUCCESSIVO</a:t>
            </a:r>
          </a:p>
        </p:txBody>
      </p:sp>
      <p:sp>
        <p:nvSpPr>
          <p:cNvPr id="10" name="Figura a mano libera: forma 9">
            <a:extLst>
              <a:ext uri="{FF2B5EF4-FFF2-40B4-BE49-F238E27FC236}">
                <a16:creationId xmlns:a16="http://schemas.microsoft.com/office/drawing/2014/main" id="{160D8F59-9088-E0FA-1B1A-8DAFCECB4E8B}"/>
              </a:ext>
            </a:extLst>
          </p:cNvPr>
          <p:cNvSpPr/>
          <p:nvPr/>
        </p:nvSpPr>
        <p:spPr>
          <a:xfrm>
            <a:off x="6932286" y="4178222"/>
            <a:ext cx="491319" cy="451416"/>
          </a:xfrm>
          <a:custGeom>
            <a:avLst/>
            <a:gdLst>
              <a:gd name="connsiteX0" fmla="*/ 0 w 491319"/>
              <a:gd name="connsiteY0" fmla="*/ 192108 h 451416"/>
              <a:gd name="connsiteX1" fmla="*/ 68238 w 491319"/>
              <a:gd name="connsiteY1" fmla="*/ 151165 h 451416"/>
              <a:gd name="connsiteX2" fmla="*/ 313898 w 491319"/>
              <a:gd name="connsiteY2" fmla="*/ 151165 h 451416"/>
              <a:gd name="connsiteX3" fmla="*/ 368489 w 491319"/>
              <a:gd name="connsiteY3" fmla="*/ 164813 h 451416"/>
              <a:gd name="connsiteX4" fmla="*/ 313898 w 491319"/>
              <a:gd name="connsiteY4" fmla="*/ 96574 h 451416"/>
              <a:gd name="connsiteX5" fmla="*/ 218364 w 491319"/>
              <a:gd name="connsiteY5" fmla="*/ 1039 h 451416"/>
              <a:gd name="connsiteX6" fmla="*/ 232011 w 491319"/>
              <a:gd name="connsiteY6" fmla="*/ 14687 h 451416"/>
              <a:gd name="connsiteX7" fmla="*/ 313898 w 491319"/>
              <a:gd name="connsiteY7" fmla="*/ 41983 h 451416"/>
              <a:gd name="connsiteX8" fmla="*/ 368489 w 491319"/>
              <a:gd name="connsiteY8" fmla="*/ 69278 h 451416"/>
              <a:gd name="connsiteX9" fmla="*/ 491319 w 491319"/>
              <a:gd name="connsiteY9" fmla="*/ 178460 h 451416"/>
              <a:gd name="connsiteX10" fmla="*/ 464023 w 491319"/>
              <a:gd name="connsiteY10" fmla="*/ 219404 h 451416"/>
              <a:gd name="connsiteX11" fmla="*/ 354841 w 491319"/>
              <a:gd name="connsiteY11" fmla="*/ 260347 h 451416"/>
              <a:gd name="connsiteX12" fmla="*/ 272955 w 491319"/>
              <a:gd name="connsiteY12" fmla="*/ 342233 h 451416"/>
              <a:gd name="connsiteX13" fmla="*/ 232011 w 491319"/>
              <a:gd name="connsiteY13" fmla="*/ 410472 h 451416"/>
              <a:gd name="connsiteX14" fmla="*/ 218364 w 491319"/>
              <a:gd name="connsiteY14" fmla="*/ 451416 h 451416"/>
              <a:gd name="connsiteX15" fmla="*/ 204716 w 491319"/>
              <a:gd name="connsiteY15" fmla="*/ 437768 h 451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1319" h="451416">
                <a:moveTo>
                  <a:pt x="0" y="192108"/>
                </a:moveTo>
                <a:cubicBezTo>
                  <a:pt x="22746" y="178460"/>
                  <a:pt x="42732" y="158452"/>
                  <a:pt x="68238" y="151165"/>
                </a:cubicBezTo>
                <a:cubicBezTo>
                  <a:pt x="159952" y="124961"/>
                  <a:pt x="222184" y="140974"/>
                  <a:pt x="313898" y="151165"/>
                </a:cubicBezTo>
                <a:cubicBezTo>
                  <a:pt x="332095" y="155714"/>
                  <a:pt x="368489" y="183570"/>
                  <a:pt x="368489" y="164813"/>
                </a:cubicBezTo>
                <a:cubicBezTo>
                  <a:pt x="368489" y="135684"/>
                  <a:pt x="334496" y="117172"/>
                  <a:pt x="313898" y="96574"/>
                </a:cubicBezTo>
                <a:cubicBezTo>
                  <a:pt x="222907" y="5583"/>
                  <a:pt x="291157" y="110226"/>
                  <a:pt x="218364" y="1039"/>
                </a:cubicBezTo>
                <a:cubicBezTo>
                  <a:pt x="214795" y="-4314"/>
                  <a:pt x="225908" y="12653"/>
                  <a:pt x="232011" y="14687"/>
                </a:cubicBezTo>
                <a:cubicBezTo>
                  <a:pt x="259307" y="23786"/>
                  <a:pt x="287184" y="31297"/>
                  <a:pt x="313898" y="41983"/>
                </a:cubicBezTo>
                <a:cubicBezTo>
                  <a:pt x="332788" y="49539"/>
                  <a:pt x="351561" y="57993"/>
                  <a:pt x="368489" y="69278"/>
                </a:cubicBezTo>
                <a:cubicBezTo>
                  <a:pt x="421489" y="104611"/>
                  <a:pt x="447346" y="134487"/>
                  <a:pt x="491319" y="178460"/>
                </a:cubicBezTo>
                <a:cubicBezTo>
                  <a:pt x="482220" y="192108"/>
                  <a:pt x="476624" y="208903"/>
                  <a:pt x="464023" y="219404"/>
                </a:cubicBezTo>
                <a:cubicBezTo>
                  <a:pt x="433438" y="244891"/>
                  <a:pt x="391569" y="251165"/>
                  <a:pt x="354841" y="260347"/>
                </a:cubicBezTo>
                <a:cubicBezTo>
                  <a:pt x="261223" y="400776"/>
                  <a:pt x="415146" y="179731"/>
                  <a:pt x="272955" y="342233"/>
                </a:cubicBezTo>
                <a:cubicBezTo>
                  <a:pt x="255487" y="362196"/>
                  <a:pt x="243874" y="386746"/>
                  <a:pt x="232011" y="410472"/>
                </a:cubicBezTo>
                <a:cubicBezTo>
                  <a:pt x="225577" y="423339"/>
                  <a:pt x="228536" y="441243"/>
                  <a:pt x="218364" y="451416"/>
                </a:cubicBezTo>
                <a:lnTo>
                  <a:pt x="204716" y="43776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067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3766"/>
            <a:ext cx="8804910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Il Processo di Creazione di una Nuova Transazione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93790" y="1315641"/>
            <a:ext cx="138827" cy="833557"/>
          </a:xfrm>
          <a:prstGeom prst="roundRect">
            <a:avLst>
              <a:gd name="adj" fmla="val 900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71443" y="1454467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Inserimento dati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1443" y="1754862"/>
            <a:ext cx="1276516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L'utente specifica i dati di input (mittente, importo) e i dati di output (destinatario).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2149" y="2288024"/>
            <a:ext cx="138827" cy="833557"/>
          </a:xfrm>
          <a:prstGeom prst="roundRect">
            <a:avLst>
              <a:gd name="adj" fmla="val 900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 sz="1600"/>
          </a:p>
        </p:txBody>
      </p:sp>
      <p:sp>
        <p:nvSpPr>
          <p:cNvPr id="7" name="Text 5"/>
          <p:cNvSpPr/>
          <p:nvPr/>
        </p:nvSpPr>
        <p:spPr>
          <a:xfrm>
            <a:off x="1279803" y="2426851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Validazione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9803" y="2727246"/>
            <a:ext cx="1255680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Software specifici verificano la validità della transazione (es. disponibilità di fondi).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10508" y="3260408"/>
            <a:ext cx="138827" cy="833557"/>
          </a:xfrm>
          <a:prstGeom prst="roundRect">
            <a:avLst>
              <a:gd name="adj" fmla="val 900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 sz="1600"/>
          </a:p>
        </p:txBody>
      </p:sp>
      <p:sp>
        <p:nvSpPr>
          <p:cNvPr id="10" name="Text 8"/>
          <p:cNvSpPr/>
          <p:nvPr/>
        </p:nvSpPr>
        <p:spPr>
          <a:xfrm>
            <a:off x="1488162" y="3399234"/>
            <a:ext cx="179427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Creazione del blocco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8162" y="3699629"/>
            <a:ext cx="1234844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transazione viene inclusa in un nuovo blocco candidato insieme ad altre transazioni.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18868" y="4232791"/>
            <a:ext cx="138827" cy="833557"/>
          </a:xfrm>
          <a:prstGeom prst="roundRect">
            <a:avLst>
              <a:gd name="adj" fmla="val 900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 sz="1600"/>
          </a:p>
        </p:txBody>
      </p:sp>
      <p:sp>
        <p:nvSpPr>
          <p:cNvPr id="13" name="Text 11"/>
          <p:cNvSpPr/>
          <p:nvPr/>
        </p:nvSpPr>
        <p:spPr>
          <a:xfrm>
            <a:off x="1696522" y="4371618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6522" y="4672013"/>
            <a:ext cx="12140089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minatori competono per trovare un hash valido per il blocco candidato.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10508" y="5205174"/>
            <a:ext cx="138827" cy="833557"/>
          </a:xfrm>
          <a:prstGeom prst="roundRect">
            <a:avLst>
              <a:gd name="adj" fmla="val 9006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 sz="1600"/>
          </a:p>
        </p:txBody>
      </p:sp>
      <p:sp>
        <p:nvSpPr>
          <p:cNvPr id="16" name="Text 14"/>
          <p:cNvSpPr/>
          <p:nvPr/>
        </p:nvSpPr>
        <p:spPr>
          <a:xfrm>
            <a:off x="1488162" y="5344001"/>
            <a:ext cx="17901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Aggiunta alla catena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8162" y="5644396"/>
            <a:ext cx="1234844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validato, il blocco viene aggiunto permanentemente alla blockchain.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3790" y="6247090"/>
            <a:ext cx="375249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Sicurezza della Blockchain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3790" y="6802755"/>
            <a:ext cx="13042821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Tramite la funzione di hash si produce un'impronta </a:t>
            </a:r>
            <a:r>
              <a:rPr lang="en-US" sz="16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unidirezionale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Se per qualche motivo si modifica un blocco precedente, l'impronta definita attraverso la funzione di hash verrebbe modificata, e ciò invaliderebbe la catena di blocchi successivi.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6607" y="7663992"/>
            <a:ext cx="1304282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Questa proprietà matematica è ciò che rende la blockchain sicura e affidabile per i sistemi di elaborazione delle informazioni.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305" y="1111835"/>
            <a:ext cx="8895636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Proof of Work: Garantire la Sicurezza della Blockchain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4305" y="1662069"/>
            <a:ext cx="3036808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Cos'è la Proof of Work?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-33587" y="711816"/>
            <a:ext cx="18585058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4305" y="2189723"/>
            <a:ext cx="2175867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Il Meccanismo in Dettaglio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22" y="2536601"/>
            <a:ext cx="644962" cy="7947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3228" y="2665545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Nuova transazione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73228" y="2995944"/>
            <a:ext cx="625804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ogni nuova transazione, un nuovo blocco deve essere inserito nella blockchain.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22" y="3331343"/>
            <a:ext cx="644962" cy="7947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3228" y="3460287"/>
            <a:ext cx="163889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Criterio di difficoltà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73228" y="3790686"/>
            <a:ext cx="625804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L'hash del blocco deve soddisfare specifici requisiti (es. iniziare con un certo numero di zeri).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22" y="4126085"/>
            <a:ext cx="644962" cy="794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73228" y="4255030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Mining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73228" y="4585428"/>
            <a:ext cx="625804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"minatori" (computer distribuiti in rete) cercano un hash valido modificando il nonce.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22" y="4920827"/>
            <a:ext cx="644962" cy="7947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73228" y="5049772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Validazione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273228" y="5380170"/>
            <a:ext cx="625804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Quando viene trovato un hash valido, il blocco è trasmesso in rete e aggiunto alla catena.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549941" y="1387071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</a:rPr>
              <a:t>Perché è Sicuro?</a:t>
            </a:r>
          </a:p>
        </p:txBody>
      </p:sp>
      <p:sp>
        <p:nvSpPr>
          <p:cNvPr id="19" name="Text 13"/>
          <p:cNvSpPr/>
          <p:nvPr/>
        </p:nvSpPr>
        <p:spPr>
          <a:xfrm>
            <a:off x="8314430" y="1731763"/>
            <a:ext cx="5696188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</a:t>
            </a: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criterio di difficoltà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è un parametro che indica quanto debba essere difficile calcolare un hash valido: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197403" y="2319723"/>
            <a:ext cx="5696188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Richiede un'enorme potenza di calcolo per trovare la soluzione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97403" y="2866999"/>
            <a:ext cx="5696188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È facilmente verificabile dagli altri nodi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197403" y="3366931"/>
            <a:ext cx="5696188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difficoltà viene periodicamente aggiustata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97403" y="4048575"/>
            <a:ext cx="5696188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manipolare la blockchain, un attaccante dovrebbe controllare oltre il 51% della potenza di calcolo della rete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93791" y="6567531"/>
            <a:ext cx="5696188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Questo rende economicamente impraticabile alterare la storia delle transazioni registrate.</a:t>
            </a:r>
            <a:endParaRPr lang="en-US" sz="140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D79EF35-B951-D3B2-A814-3E520C66EAC4}"/>
              </a:ext>
            </a:extLst>
          </p:cNvPr>
          <p:cNvSpPr txBox="1"/>
          <p:nvPr/>
        </p:nvSpPr>
        <p:spPr>
          <a:xfrm>
            <a:off x="170480" y="154983"/>
            <a:ext cx="130495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È un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meccanismo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di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consenso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utilizzato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nella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blockchain per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garantirne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la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sicurezza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,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rendendo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estremamente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difficoltoso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per</a:t>
            </a:r>
          </a:p>
          <a:p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Un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malintenzionato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,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modificare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qualunque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dato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</a:t>
            </a:r>
            <a:r>
              <a:rPr lang="en-US" sz="2800" dirty="0" err="1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sulla</a:t>
            </a:r>
            <a:r>
              <a:rPr lang="en-US" sz="2800" dirty="0">
                <a:solidFill>
                  <a:srgbClr val="405449"/>
                </a:solidFill>
                <a:latin typeface="DaunPenh" panose="01010101010101010101" pitchFamily="2" charset="0"/>
                <a:ea typeface="Nobile" pitchFamily="34" charset="-122"/>
                <a:cs typeface="DaunPenh" panose="01010101010101010101" pitchFamily="2" charset="0"/>
              </a:rPr>
              <a:t> blockchain</a:t>
            </a:r>
            <a:r>
              <a:rPr lang="en-US" sz="2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it-IT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Microsoft Office PowerPoint</Application>
  <PresentationFormat>Personalizzato</PresentationFormat>
  <Paragraphs>166</Paragraphs>
  <Slides>13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Nobile</vt:lpstr>
      <vt:lpstr>DaunPenh</vt:lpstr>
      <vt:lpstr>Arial</vt:lpstr>
      <vt:lpstr>Fraunces Extra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PASTORI PAOLA MARIA</cp:lastModifiedBy>
  <cp:revision>8</cp:revision>
  <dcterms:created xsi:type="dcterms:W3CDTF">2025-08-25T16:27:48Z</dcterms:created>
  <dcterms:modified xsi:type="dcterms:W3CDTF">2025-08-26T13:11:22Z</dcterms:modified>
</cp:coreProperties>
</file>