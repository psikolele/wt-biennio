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Fraunces Extra Bold" panose="020B0604020202020204" charset="0"/>
      <p:regular r:id="rId12"/>
    </p:embeddedFont>
    <p:embeddedFont>
      <p:font typeface="Nobile" panose="020B0604020202020204" charset="0"/>
      <p:regular r:id="rId13"/>
    </p:embeddedFont>
  </p:embeddedFont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F3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3" d="100"/>
          <a:sy n="43" d="100"/>
        </p:scale>
        <p:origin x="115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9280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stec-171560.blogspot.com/2011/05/i-protagonisti-l-b-alberti.htm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hyperlink" Target="https://creativecommons.org/licenses/by-nc-nd/3.0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wikibit.it/c/cosa-significa-cifratura-2178/" TargetMode="External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hyperlink" Target="http://fity.club/lists/suggestions/algoritmi-pdf/" TargetMode="External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www.creativemotions.it/ssh-tutoria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9175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38951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CRITTOGRAFIA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640693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 viaggio nel mondo affascinante della </a:t>
            </a: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crittografia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l'arte di nascondere informazioni in piena vista. Scopriremo insieme come proteggere i dati e garantire comunicazioni sicure attraverso tecniche matematiche.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5347454"/>
            <a:ext cx="7556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 studenti delle scuole superiori e principianti nel mondo della sicurezza informatica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8938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METODO XOR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055138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 XOR è un'operazione logica che confronta due bit: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36094"/>
            <a:ext cx="4885015" cy="2616518"/>
          </a:xfrm>
          <a:prstGeom prst="roundRect">
            <a:avLst>
              <a:gd name="adj" fmla="val 780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801410" y="3043714"/>
            <a:ext cx="4869775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028224" y="3187422"/>
            <a:ext cx="44161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 XOR 0 = 0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801410" y="3694033"/>
            <a:ext cx="4869775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028224" y="3837742"/>
            <a:ext cx="44161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 XOR 1 = 1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4344353"/>
            <a:ext cx="4869775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028224" y="4488061"/>
            <a:ext cx="44161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 XOR 0 = 1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801410" y="4994672"/>
            <a:ext cx="4869775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028224" y="5138380"/>
            <a:ext cx="44161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 XOR 1 = 0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790" y="5907762"/>
            <a:ext cx="48850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Proprietà fondamentale: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applicando XOR due volte con la stessa chiave, si ottiene il messaggio originale.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6239828" y="2055138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Esempio di cifratura XOR: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6239828" y="2622113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Messaggio: </a:t>
            </a: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1 0 1 1 1 0 1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6239828" y="3189089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Chiave: </a:t>
            </a: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0 1 0 1 0 1 1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6239828" y="3756065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Testo cifrato: </a:t>
            </a:r>
            <a:r>
              <a:rPr lang="en-US" sz="1750" b="1" dirty="0">
                <a:solidFill>
                  <a:srgbClr val="4A644E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1 1 1 0 1 1 0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6239828" y="4487499"/>
            <a:ext cx="7604284" cy="35957"/>
          </a:xfrm>
          <a:prstGeom prst="rect">
            <a:avLst/>
          </a:prstGeom>
          <a:solidFill>
            <a:srgbClr val="405449">
              <a:alpha val="5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6239828" y="4778573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Decifratura: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6239828" y="5345549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Testo cifrato: </a:t>
            </a: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1 1 1 0 1 1 0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6239828" y="5912525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Chiave: </a:t>
            </a: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0 1 0 1 0 1 1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6239828" y="6479500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Messaggio originale: 1 0 1 1 1 0 1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9269"/>
            <a:ext cx="620339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438951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CRITTOGRAFIA POLIALFABETICA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1584722"/>
            <a:ext cx="130428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 sistema in cui la chiave iniziale serve solo per la prima lettera, poi il sistema evolve automaticamente.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93790" y="2558534"/>
            <a:ext cx="4234220" cy="170021"/>
          </a:xfrm>
          <a:prstGeom prst="roundRect">
            <a:avLst>
              <a:gd name="adj" fmla="val 90053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963811" y="2898577"/>
            <a:ext cx="2342197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Passo 1: Prima lettera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63811" y="3266361"/>
            <a:ext cx="389417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 chiave K=20, trasformiamo A: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3811" y="3640574"/>
            <a:ext cx="389417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(0+20) MOD 21 = 20 → A diventa Z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198031" y="2303383"/>
            <a:ext cx="4234220" cy="170021"/>
          </a:xfrm>
          <a:prstGeom prst="roundRect">
            <a:avLst>
              <a:gd name="adj" fmla="val 90053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5368052" y="2643426"/>
            <a:ext cx="2887980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Passo 2: Lettere successive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368052" y="3011210"/>
            <a:ext cx="3894177" cy="81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 ogni lettera successiva, si somma la posizione della lettera attuale con quella precedente: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68052" y="3929777"/>
            <a:ext cx="389417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 = posizione 9, A = posizione 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68052" y="4303990"/>
            <a:ext cx="389417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(9+0) MOD 21 = 9 → L resta 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602272" y="2048232"/>
            <a:ext cx="4234220" cy="170021"/>
          </a:xfrm>
          <a:prstGeom prst="roundRect">
            <a:avLst>
              <a:gd name="adj" fmla="val 90053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9772293" y="2388275"/>
            <a:ext cx="2489359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Passo 3: Continuazione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772293" y="2756059"/>
            <a:ext cx="389417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 = posizione 9, L (precedente) = posizione 9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772293" y="3130272"/>
            <a:ext cx="3894177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(9+9) MOD 21 = 18 → L diventa U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3790" y="4937522"/>
            <a:ext cx="13042821" cy="2472690"/>
          </a:xfrm>
          <a:prstGeom prst="roundRect">
            <a:avLst>
              <a:gd name="adj" fmla="val 619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801410" y="4945142"/>
            <a:ext cx="13027581" cy="49149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971788" y="5054798"/>
            <a:ext cx="226159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Lettera in chiaro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81043" y="5054798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86488" y="5054798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791932" y="5054798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397377" y="5054798"/>
            <a:ext cx="226159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1410" y="5436632"/>
            <a:ext cx="13027581" cy="49149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971788" y="5546288"/>
            <a:ext cx="226159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Posizione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581043" y="5546288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86488" y="5546288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9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791932" y="5546288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9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397377" y="5546288"/>
            <a:ext cx="226159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01410" y="5928122"/>
            <a:ext cx="13027581" cy="49149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971788" y="6037778"/>
            <a:ext cx="226159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Sottochiave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581043" y="6037778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86488" y="6037778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791932" y="6037778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9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397377" y="6037778"/>
            <a:ext cx="226159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9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01410" y="6419612"/>
            <a:ext cx="13027581" cy="49149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971788" y="6529268"/>
            <a:ext cx="226159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Somma (MOD 21)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581043" y="6529268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20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186488" y="6529268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9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791932" y="6529268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18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1397377" y="6529268"/>
            <a:ext cx="226159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9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01410" y="6911102"/>
            <a:ext cx="13027581" cy="49149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971788" y="7020758"/>
            <a:ext cx="226159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Lettera cifrata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581043" y="7020758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Z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186488" y="7020758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791932" y="7020758"/>
            <a:ext cx="225778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1397377" y="7020758"/>
            <a:ext cx="2261592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817126"/>
            <a:ext cx="5220772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DECIFRATURA POLIALFABETICA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793790" y="1351598"/>
            <a:ext cx="755642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 decifrare un messaggio con crittografia polialfabetica, il processo è invertito: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793790" y="1753195"/>
            <a:ext cx="7556421" cy="1203841"/>
          </a:xfrm>
          <a:prstGeom prst="roundRect">
            <a:avLst>
              <a:gd name="adj" fmla="val 11023"/>
            </a:avLst>
          </a:prstGeom>
          <a:solidFill>
            <a:srgbClr val="FAFFFA"/>
          </a:solidFill>
          <a:ln w="1524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956429" y="1915835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Prima lettera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956429" y="2234565"/>
            <a:ext cx="723114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Z (posizione 20), chiave K=20: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956429" y="2558653"/>
            <a:ext cx="723114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(20-20) MOD 21 = 0 → Lettera A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93790" y="3104436"/>
            <a:ext cx="7556421" cy="1203841"/>
          </a:xfrm>
          <a:prstGeom prst="roundRect">
            <a:avLst>
              <a:gd name="adj" fmla="val 11023"/>
            </a:avLst>
          </a:prstGeom>
          <a:solidFill>
            <a:srgbClr val="FAFFFA"/>
          </a:solidFill>
          <a:ln w="1524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956429" y="3267075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Seconda lettera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56429" y="3585805"/>
            <a:ext cx="723114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 (posizione 9), lettera precedente A (posizione 0):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56429" y="3909893"/>
            <a:ext cx="723114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(9-0) MOD 21 = 9 → Lettera L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93790" y="4455676"/>
            <a:ext cx="7556421" cy="1203841"/>
          </a:xfrm>
          <a:prstGeom prst="roundRect">
            <a:avLst>
              <a:gd name="adj" fmla="val 11023"/>
            </a:avLst>
          </a:prstGeom>
          <a:solidFill>
            <a:srgbClr val="FAFFFA"/>
          </a:solidFill>
          <a:ln w="1524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956429" y="4618315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Terza lettera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956429" y="4937046"/>
            <a:ext cx="723114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 (posizione 18), lettera precedente L (posizione 9):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956429" y="5261134"/>
            <a:ext cx="723114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(18-9) MOD 21 = 9 → Lettera L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93790" y="5806916"/>
            <a:ext cx="7556421" cy="1203841"/>
          </a:xfrm>
          <a:prstGeom prst="roundRect">
            <a:avLst>
              <a:gd name="adj" fmla="val 11023"/>
            </a:avLst>
          </a:prstGeom>
          <a:solidFill>
            <a:srgbClr val="FAFFFA"/>
          </a:solidFill>
          <a:ln w="1524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956429" y="5969556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Quarta lettera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956429" y="6288286"/>
            <a:ext cx="723114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 (posizione 9), lettera precedente L (posizione 9):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956429" y="6612374"/>
            <a:ext cx="723114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(9-9) MOD 21 = 0 → Lettera A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93790" y="7176611"/>
            <a:ext cx="755642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Risultato finale: ALLA</a:t>
            </a:r>
            <a:endParaRPr lang="en-US" sz="1150" dirty="0"/>
          </a:p>
        </p:txBody>
      </p:sp>
      <p:pic>
        <p:nvPicPr>
          <p:cNvPr id="23" name="Immagine 22" descr="Immagine che contiene cerchio, testo, ruota&#10;&#10;Il contenuto generato dall'IA potrebbe non essere corretto.">
            <a:extLst>
              <a:ext uri="{FF2B5EF4-FFF2-40B4-BE49-F238E27FC236}">
                <a16:creationId xmlns:a16="http://schemas.microsoft.com/office/drawing/2014/main" id="{E220D996-8CC1-18FC-09FA-7859C60D54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766405" y="2042635"/>
            <a:ext cx="4529870" cy="40832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8434"/>
            <a:ext cx="7688461" cy="453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TABELLA ALFABETICA PER CIFRATURA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793790" y="1624965"/>
            <a:ext cx="130428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Utilizziamo questa tabella di corrispondenza per le esercitazioni: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93790" y="2119313"/>
            <a:ext cx="13042821" cy="3154204"/>
          </a:xfrm>
          <a:prstGeom prst="roundRect">
            <a:avLst>
              <a:gd name="adj" fmla="val 517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801410" y="2126933"/>
            <a:ext cx="13027581" cy="5231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983813" y="2243376"/>
            <a:ext cx="93595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90286" y="2243376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92949" y="2243376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5612" y="2243376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98275" y="2243376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500938" y="2243376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803600" y="2243376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06263" y="2243376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08926" y="2243376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711589" y="2243376"/>
            <a:ext cx="93595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1410" y="2650093"/>
            <a:ext cx="13027581" cy="5231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983813" y="2766536"/>
            <a:ext cx="93595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290286" y="2766536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92949" y="2766536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5612" y="2766536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98275" y="2766536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00938" y="2766536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803600" y="2766536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106263" y="2766536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408926" y="2766536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8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711589" y="2766536"/>
            <a:ext cx="93595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9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01410" y="3173254"/>
            <a:ext cx="13027581" cy="5231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983813" y="3289697"/>
            <a:ext cx="93595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290286" y="3289697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92949" y="3289697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895612" y="3289697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198275" y="3289697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500938" y="3289697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803600" y="3289697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106263" y="3289697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408926" y="3289697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2711589" y="3289697"/>
            <a:ext cx="93595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01410" y="3696414"/>
            <a:ext cx="13027581" cy="5231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983813" y="3812858"/>
            <a:ext cx="93595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10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290286" y="3812858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11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592949" y="3812858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12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895612" y="3812858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13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198275" y="3812858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14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500938" y="3812858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15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803600" y="3812858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16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0106263" y="3812858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17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1408926" y="3812858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18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2711589" y="3812858"/>
            <a:ext cx="93595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19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01410" y="4219575"/>
            <a:ext cx="13027581" cy="5231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0" name="Text 48"/>
          <p:cNvSpPr/>
          <p:nvPr/>
        </p:nvSpPr>
        <p:spPr>
          <a:xfrm>
            <a:off x="983813" y="4336018"/>
            <a:ext cx="93595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z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2290286" y="4336018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3592949" y="4336018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4895612" y="4336018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198275" y="4336018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7500938" y="4336018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8803600" y="4336018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0106263" y="4336018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11408926" y="4336018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12711589" y="4336018"/>
            <a:ext cx="93595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801410" y="4742736"/>
            <a:ext cx="13027581" cy="5231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1" name="Text 59"/>
          <p:cNvSpPr/>
          <p:nvPr/>
        </p:nvSpPr>
        <p:spPr>
          <a:xfrm>
            <a:off x="983813" y="4859179"/>
            <a:ext cx="93595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20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2290286" y="4859179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3592949" y="4859179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4895612" y="4859179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6198275" y="4859179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7500938" y="4859179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8803600" y="4859179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10106263" y="4859179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11408926" y="4859179"/>
            <a:ext cx="93214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12711589" y="4859179"/>
            <a:ext cx="93595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793790" y="5477589"/>
            <a:ext cx="13042821" cy="1943457"/>
          </a:xfrm>
          <a:prstGeom prst="roundRect">
            <a:avLst>
              <a:gd name="adj" fmla="val 8403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7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241" y="5726906"/>
            <a:ext cx="283488" cy="226814"/>
          </a:xfrm>
          <a:prstGeom prst="rect">
            <a:avLst/>
          </a:prstGeom>
        </p:spPr>
      </p:pic>
      <p:sp>
        <p:nvSpPr>
          <p:cNvPr id="73" name="Text 70"/>
          <p:cNvSpPr/>
          <p:nvPr/>
        </p:nvSpPr>
        <p:spPr>
          <a:xfrm>
            <a:off x="1440180" y="570440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Esercizio pratico</a:t>
            </a:r>
            <a:endParaRPr lang="en-US" sz="1750" dirty="0"/>
          </a:p>
        </p:txBody>
      </p:sp>
      <p:sp>
        <p:nvSpPr>
          <p:cNvPr id="74" name="Text 71"/>
          <p:cNvSpPr/>
          <p:nvPr/>
        </p:nvSpPr>
        <p:spPr>
          <a:xfrm>
            <a:off x="1440180" y="6169343"/>
            <a:ext cx="1221497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Prova a cifrare e decifrare:</a:t>
            </a:r>
            <a:endParaRPr lang="en-US" sz="1400" dirty="0"/>
          </a:p>
        </p:txBody>
      </p:sp>
      <p:sp>
        <p:nvSpPr>
          <p:cNvPr id="75" name="Text 72"/>
          <p:cNvSpPr/>
          <p:nvPr/>
        </p:nvSpPr>
        <p:spPr>
          <a:xfrm>
            <a:off x="1440180" y="6622852"/>
            <a:ext cx="1221497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 parola </a:t>
            </a:r>
            <a:r>
              <a:rPr lang="en-US" sz="140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MIA</a:t>
            </a:r>
            <a:r>
              <a:rPr lang="en-US" sz="14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(con chiave iniziale 3)</a:t>
            </a:r>
            <a:endParaRPr lang="en-US" sz="1400" dirty="0"/>
          </a:p>
        </p:txBody>
      </p:sp>
      <p:sp>
        <p:nvSpPr>
          <p:cNvPr id="76" name="Text 73"/>
          <p:cNvSpPr/>
          <p:nvPr/>
        </p:nvSpPr>
        <p:spPr>
          <a:xfrm>
            <a:off x="1440180" y="6976586"/>
            <a:ext cx="1221497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 parola </a:t>
            </a:r>
            <a:r>
              <a:rPr lang="en-US" sz="140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SCUOLA</a:t>
            </a:r>
            <a:r>
              <a:rPr lang="en-US" sz="14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(con chiave iniziale 4)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2345"/>
            <a:ext cx="9620012" cy="453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ESERCIZIO: CIFRATURA E DECIFRATURA DI "MIA"</a:t>
            </a:r>
            <a:endParaRPr lang="en-US" sz="2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524119"/>
            <a:ext cx="907256" cy="20251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82497" y="1705570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Cifratura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882497" y="2170509"/>
            <a:ext cx="655986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 = (10+3) MOD 21 = 13 → P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882497" y="2624018"/>
            <a:ext cx="655986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 = (8+10) MOD 21 = 18 → U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882497" y="3077528"/>
            <a:ext cx="655986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= (0+8) MOD 21 = 8 → I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549253"/>
            <a:ext cx="907256" cy="202513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82497" y="3730704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Decifratura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1882497" y="4195643"/>
            <a:ext cx="655986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 = (13-3) MOD 21 = 10 → M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882497" y="4649153"/>
            <a:ext cx="655986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 = (18-10) MOD 21 = 8 → I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882497" y="5102662"/>
            <a:ext cx="655986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 = (8-8) MOD 21 = 0 → A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793790" y="5778460"/>
            <a:ext cx="7648575" cy="1584722"/>
          </a:xfrm>
          <a:prstGeom prst="roundRect">
            <a:avLst>
              <a:gd name="adj" fmla="val 1030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0"/>
          <p:cNvSpPr/>
          <p:nvPr/>
        </p:nvSpPr>
        <p:spPr>
          <a:xfrm>
            <a:off x="801410" y="5786080"/>
            <a:ext cx="7633335" cy="5231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1"/>
          <p:cNvSpPr/>
          <p:nvPr/>
        </p:nvSpPr>
        <p:spPr>
          <a:xfrm>
            <a:off x="982861" y="5902523"/>
            <a:ext cx="15416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Lettera in chiaro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895005" y="5902523"/>
            <a:ext cx="153781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803338" y="5902523"/>
            <a:ext cx="153781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711672" y="5902523"/>
            <a:ext cx="15416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801410" y="6309241"/>
            <a:ext cx="7633335" cy="5231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6"/>
          <p:cNvSpPr/>
          <p:nvPr/>
        </p:nvSpPr>
        <p:spPr>
          <a:xfrm>
            <a:off x="982861" y="6425684"/>
            <a:ext cx="15416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Posizione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2895005" y="6425684"/>
            <a:ext cx="153781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10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4803338" y="6425684"/>
            <a:ext cx="153781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8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711672" y="6425684"/>
            <a:ext cx="15416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801410" y="6832402"/>
            <a:ext cx="7633335" cy="5231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1"/>
          <p:cNvSpPr/>
          <p:nvPr/>
        </p:nvSpPr>
        <p:spPr>
          <a:xfrm>
            <a:off x="982861" y="6948845"/>
            <a:ext cx="15416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Lettera cifrata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2895005" y="6948845"/>
            <a:ext cx="153781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4803338" y="6948845"/>
            <a:ext cx="153781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6711672" y="6948845"/>
            <a:ext cx="15416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8892659" y="4203859"/>
            <a:ext cx="495145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4A644E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Risultato finale: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8892659" y="4657368"/>
            <a:ext cx="495145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MIA → PUI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8892659" y="5110877"/>
            <a:ext cx="495145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PUI → MIA</a:t>
            </a:r>
            <a:endParaRPr lang="en-US" sz="1400" dirty="0"/>
          </a:p>
        </p:txBody>
      </p:sp>
      <p:pic>
        <p:nvPicPr>
          <p:cNvPr id="34" name="Immagine 33" descr="Immagine che contiene testo, Elementi grafici, schermata, lampada&#10;&#10;Il contenuto generato dall'IA potrebbe non essere corretto.">
            <a:extLst>
              <a:ext uri="{FF2B5EF4-FFF2-40B4-BE49-F238E27FC236}">
                <a16:creationId xmlns:a16="http://schemas.microsoft.com/office/drawing/2014/main" id="{CB955143-6429-8E66-698A-9FA3B9A0A3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0479645" y="429710"/>
            <a:ext cx="3251345" cy="3255112"/>
          </a:xfrm>
          <a:prstGeom prst="rect">
            <a:avLst/>
          </a:prstGeom>
        </p:spPr>
      </p:pic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76074E42-4467-020A-B6EB-3E3000193400}"/>
              </a:ext>
            </a:extLst>
          </p:cNvPr>
          <p:cNvSpPr txBox="1"/>
          <p:nvPr/>
        </p:nvSpPr>
        <p:spPr>
          <a:xfrm>
            <a:off x="10479645" y="4980316"/>
            <a:ext cx="3251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900">
                <a:hlinkClick r:id="rId6" tooltip="http://www.wikibit.it/c/cosa-significa-cifratura-2178/"/>
              </a:rPr>
              <a:t>Questa foto</a:t>
            </a:r>
            <a:r>
              <a:rPr lang="it-IT" sz="900"/>
              <a:t> di Autore sconosciuto è concesso in licenza da </a:t>
            </a:r>
            <a:r>
              <a:rPr lang="it-IT" sz="900">
                <a:hlinkClick r:id="rId7" tooltip="https://creativecommons.org/licenses/by-nc-nd/3.0/"/>
              </a:rPr>
              <a:t>CC BY-NC-ND</a:t>
            </a:r>
            <a:endParaRPr lang="it-IT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94460"/>
            <a:ext cx="1300329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ESERCIZIO: CIFRATURA E DECIFRATURA DI "SCUOLA"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2415064"/>
            <a:ext cx="6407944" cy="3801904"/>
          </a:xfrm>
          <a:prstGeom prst="roundRect">
            <a:avLst>
              <a:gd name="adj" fmla="val 5370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1020604" y="26418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Cifratura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132296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 = (16+4) MOD 21 = 20 → Z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20604" y="3631287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 = (2+16) MOD 21 = 18 → U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20604" y="4130278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 = (18+2) MOD 21 = 20 → Z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20604" y="4629269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 = (12+18) MOD 21 = 9 → L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20604" y="5128260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 = (9+12) MOD 21 = 0 → A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020604" y="5627251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= (0+9) MOD 21 = 9 → L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428548" y="2415064"/>
            <a:ext cx="6408063" cy="3801904"/>
          </a:xfrm>
          <a:prstGeom prst="roundRect">
            <a:avLst>
              <a:gd name="adj" fmla="val 5370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7655362" y="26418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Decifratura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655362" y="3132296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Z = (20-4) MOD 21 = 16 → 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655362" y="3631287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 = (18-16) MOD 21 = 2 → C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655362" y="4130278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Z = (20-2) MOD 21 = 18 → U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655362" y="4629269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 = (9-18) MOD 21 = 12 → O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655362" y="5128260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= (0-12) MOD 21 = 9 → L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655362" y="5627251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 = (9-9) MOD 21 = 0 → A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93790" y="647211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Risultato:</a:t>
            </a: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SCUOLA → ZUZLAL → SCUOLA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79475" y="625435"/>
            <a:ext cx="7557849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438951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ALGORITMI A CHIAVE SIMMETRICA</a:t>
            </a:r>
            <a:endParaRPr lang="en-US" sz="3350" dirty="0"/>
          </a:p>
        </p:txBody>
      </p:sp>
      <p:sp>
        <p:nvSpPr>
          <p:cNvPr id="4" name="Text 1"/>
          <p:cNvSpPr/>
          <p:nvPr/>
        </p:nvSpPr>
        <p:spPr>
          <a:xfrm>
            <a:off x="6279475" y="2159198"/>
            <a:ext cx="3516392" cy="672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Caratteristiche principali: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6279475" y="3047167"/>
            <a:ext cx="3516392" cy="68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Utilizzo della </a:t>
            </a:r>
            <a:r>
              <a:rPr lang="en-US" sz="16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stessa chiave</a:t>
            </a: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per cifrare e decifrare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279475" y="3811072"/>
            <a:ext cx="3516392" cy="68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Elevata velocità di elaborazione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279475" y="4574977"/>
            <a:ext cx="3516392" cy="344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Semplicità di implementazione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279475" y="4994553"/>
            <a:ext cx="3516392" cy="68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Richiede scambio sicuro delle chiavi prima dell'utilizzo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0328553" y="2159198"/>
            <a:ext cx="3516392" cy="672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Confronto con algoritmi asimmetrici: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0328553" y="3047167"/>
            <a:ext cx="3516392" cy="68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Più </a:t>
            </a:r>
            <a:r>
              <a:rPr lang="en-US" sz="165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veloci</a:t>
            </a: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ma meno sicuri nello scambio delle chiavi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0328553" y="3811072"/>
            <a:ext cx="3516392" cy="68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Richiedono un canale sicuro per la trasmissione delle chiavi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0328553" y="4574977"/>
            <a:ext cx="3516392" cy="1032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Non adatti per comunicazioni iniziali tra parti che non si conoscono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6279475" y="6000631"/>
            <a:ext cx="7557849" cy="1603415"/>
          </a:xfrm>
          <a:prstGeom prst="roundRect">
            <a:avLst>
              <a:gd name="adj" fmla="val 12084"/>
            </a:avLst>
          </a:prstGeom>
          <a:solidFill>
            <a:srgbClr val="CCE6D1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4740" y="6309955"/>
            <a:ext cx="269081" cy="21526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79087" y="6269712"/>
            <a:ext cx="6642973" cy="1032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Gli algoritmi a chiave asimmetrica permettono di scambiarsi le chiavi pubbliche attraverso un collegamento non sicuro come Internet, risolvendo il problema dello scambio delle chiavi.</a:t>
            </a:r>
            <a:endParaRPr lang="en-US" sz="1650" dirty="0"/>
          </a:p>
        </p:txBody>
      </p:sp>
      <p:pic>
        <p:nvPicPr>
          <p:cNvPr id="17" name="Immagine 16" descr="Immagine che contiene testo, schermata, diagramma, arancione&#10;&#10;Il contenuto generato dall'IA potrebbe non essere corretto.">
            <a:extLst>
              <a:ext uri="{FF2B5EF4-FFF2-40B4-BE49-F238E27FC236}">
                <a16:creationId xmlns:a16="http://schemas.microsoft.com/office/drawing/2014/main" id="{7B1D5230-55A0-77C7-EC04-81AB0C8626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30343" y="935879"/>
            <a:ext cx="5056058" cy="37920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921901"/>
            <a:ext cx="6030754" cy="453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CRITTOGRAFIA ASIMMETRICA</a:t>
            </a:r>
            <a:endParaRPr lang="en-US" sz="2850" dirty="0"/>
          </a:p>
        </p:txBody>
      </p:sp>
      <p:sp>
        <p:nvSpPr>
          <p:cNvPr id="4" name="Text 1"/>
          <p:cNvSpPr/>
          <p:nvPr/>
        </p:nvSpPr>
        <p:spPr>
          <a:xfrm>
            <a:off x="793790" y="1579602"/>
            <a:ext cx="7556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Sistema basato su coppie di chiavi (pubblica e privata) matematicamente correlate.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93790" y="2073950"/>
            <a:ext cx="7556421" cy="3505914"/>
          </a:xfrm>
          <a:prstGeom prst="roundRect">
            <a:avLst>
              <a:gd name="adj" fmla="val 4658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3"/>
          <p:cNvSpPr/>
          <p:nvPr/>
        </p:nvSpPr>
        <p:spPr>
          <a:xfrm>
            <a:off x="793790" y="2073950"/>
            <a:ext cx="7556421" cy="1752957"/>
          </a:xfrm>
          <a:prstGeom prst="roundRect">
            <a:avLst>
              <a:gd name="adj" fmla="val 9317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975241" y="2255401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Caratteristiche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975241" y="2647712"/>
            <a:ext cx="719351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Ogni utente possiede </a:t>
            </a:r>
            <a:r>
              <a:rPr lang="en-US" sz="14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due chiavi</a:t>
            </a: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pubblica e privata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75241" y="3001447"/>
            <a:ext cx="719351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 chiave pubblica è condivisibile con chiunque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75241" y="3355181"/>
            <a:ext cx="719351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 chiave privata deve restare </a:t>
            </a:r>
            <a:r>
              <a:rPr lang="en-US" sz="140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segreta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93790" y="3826907"/>
            <a:ext cx="7556421" cy="1752957"/>
          </a:xfrm>
          <a:prstGeom prst="rect">
            <a:avLst/>
          </a:prstGeom>
          <a:solidFill>
            <a:srgbClr val="E8F3E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793790" y="3826907"/>
            <a:ext cx="7556421" cy="22860"/>
          </a:xfrm>
          <a:prstGeom prst="roundRect">
            <a:avLst>
              <a:gd name="adj" fmla="val 714420"/>
            </a:avLst>
          </a:prstGeom>
          <a:solidFill>
            <a:srgbClr val="CED9C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975241" y="4008358"/>
            <a:ext cx="3163253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Principio di funzionamento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975241" y="4400669"/>
            <a:ext cx="719351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 cifri con una chiave, puoi decifrare </a:t>
            </a:r>
            <a:r>
              <a:rPr lang="en-US" sz="14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solo</a:t>
            </a: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con l'altra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75241" y="4754404"/>
            <a:ext cx="719351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Ciò che è cifrato con la chiave pubblica può essere decifrato solo con la privata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75241" y="5108138"/>
            <a:ext cx="719351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Ciò che è cifrato con la privata può essere verificato da tutti con la pubblica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93790" y="5947172"/>
            <a:ext cx="355687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Utente A possiede: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93790" y="6400681"/>
            <a:ext cx="355687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PUB A (chiave pubblica di A)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93790" y="6854190"/>
            <a:ext cx="355687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PRIV A (chiave privata di A)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800957" y="5947172"/>
            <a:ext cx="355687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Utente B possiede: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800957" y="6400681"/>
            <a:ext cx="355687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PUB B (chiave pubblica di B)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800957" y="6854190"/>
            <a:ext cx="355687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PRIV B (chiave privata di B)</a:t>
            </a:r>
            <a:endParaRPr lang="en-US" sz="1400" dirty="0"/>
          </a:p>
        </p:txBody>
      </p:sp>
      <p:pic>
        <p:nvPicPr>
          <p:cNvPr id="24" name="Immagine 23" descr="Immagine che contiene testo, schermata, diagramma, Blu elettrico&#10;&#10;Il contenuto generato dall'IA potrebbe non essere corretto.">
            <a:extLst>
              <a:ext uri="{FF2B5EF4-FFF2-40B4-BE49-F238E27FC236}">
                <a16:creationId xmlns:a16="http://schemas.microsoft.com/office/drawing/2014/main" id="{8A9EC6BA-0D1C-2743-25C0-5E173CF324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636593" y="829151"/>
            <a:ext cx="5349665" cy="3009186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E8F3E8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983</Words>
  <Application>Microsoft Office PowerPoint</Application>
  <PresentationFormat>Personalizzato</PresentationFormat>
  <Paragraphs>195</Paragraphs>
  <Slides>9</Slides>
  <Notes>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3" baseType="lpstr">
      <vt:lpstr>Nobile</vt:lpstr>
      <vt:lpstr>Fraunces Extra Bold</vt:lpstr>
      <vt:lpstr>Arial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PASTORI PAOLA MARIA</cp:lastModifiedBy>
  <cp:revision>2</cp:revision>
  <dcterms:created xsi:type="dcterms:W3CDTF">2025-08-22T12:34:30Z</dcterms:created>
  <dcterms:modified xsi:type="dcterms:W3CDTF">2025-08-22T12:48:39Z</dcterms:modified>
</cp:coreProperties>
</file>