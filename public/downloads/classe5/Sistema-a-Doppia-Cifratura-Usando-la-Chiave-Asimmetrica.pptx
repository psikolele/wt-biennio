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67" r:id="rId4"/>
    <p:sldId id="268" r:id="rId5"/>
    <p:sldId id="269" r:id="rId6"/>
    <p:sldId id="257" r:id="rId7"/>
    <p:sldId id="258" r:id="rId8"/>
    <p:sldId id="324" r:id="rId9"/>
    <p:sldId id="325" r:id="rId10"/>
    <p:sldId id="292" r:id="rId11"/>
    <p:sldId id="326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4630400" cy="8229600"/>
  <p:notesSz cx="8229600" cy="146304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Fraunces Extra Bold" panose="020B0604020202020204" charset="0"/>
      <p:regular r:id="rId29"/>
    </p:embeddedFont>
    <p:embeddedFont>
      <p:font typeface="Nobile" panose="020B0604020202020204" charset="0"/>
      <p:regular r:id="rId30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52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EEE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E7D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EEE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EEE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F145C4E9-B127-1F51-88F2-44B0FCA3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7704F9FA-AD9E-3D8D-0621-36BD60A5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Sistemi di elaborazione delle informazioni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CF3AE3E7-4ADB-9806-96C4-4CCA5D0C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D053B-5D08-428E-AEEE-45FD65478C9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5271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niverseit.blog/crittografia-end-to-end/" TargetMode="Externa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it.wiktionary.org/wiki/chiav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hyperlink" Target="https://emn178.github.io/online-tools/sha256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://matemedie.blogspot.com/2014/06/proporzionalita-diretta-ed-invers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87089" y="548059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Sistema a Doppia Cifratura Usando la Chiave Asimmetrica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2113613" y="2527102"/>
            <a:ext cx="9368853" cy="26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Esploreremo</a:t>
            </a:r>
            <a:r>
              <a:rPr lang="en-US" sz="2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 meccanismi di sicurezza informatica basati sulla crittografia asimmetrica, con particolare attenzione alla firma digitale e ai sistemi a doppia cifratura. Comprenderemo come questi sistemi garantiscano autenticità, riservatezza e integrità delle informazioni trasmesse attraverso reti non sicure.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38D707B-4C8D-554A-173F-C3958254A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08" y="364960"/>
            <a:ext cx="13296276" cy="777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16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509FAC0E-E254-70D0-A608-BB8C887D5AA4}"/>
              </a:ext>
            </a:extLst>
          </p:cNvPr>
          <p:cNvSpPr txBox="1"/>
          <p:nvPr/>
        </p:nvSpPr>
        <p:spPr>
          <a:xfrm>
            <a:off x="1079293" y="1349115"/>
            <a:ext cx="1200712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800" b="0" i="0" dirty="0">
                <a:solidFill>
                  <a:srgbClr val="454545"/>
                </a:solidFill>
                <a:effectLst/>
                <a:latin typeface="Noto Sans TC"/>
              </a:rPr>
              <a:t>Bitcoin e altre criptovalute si basano sulla crittografia asimmetrica. Gli utenti hanno chiavi pubbliche che tutti possono vedere e chiavi private che sono tenute segrete. Bitcoin utilizza un algoritmo crittografico per garantire che solo i legittimi proprietari possano spendere i fondi.</a:t>
            </a:r>
          </a:p>
          <a:p>
            <a:pPr algn="l">
              <a:lnSpc>
                <a:spcPct val="150000"/>
              </a:lnSpc>
            </a:pPr>
            <a:r>
              <a:rPr lang="it-IT" sz="2800" b="0" i="0" dirty="0">
                <a:solidFill>
                  <a:srgbClr val="454545"/>
                </a:solidFill>
                <a:effectLst/>
                <a:latin typeface="Noto Sans TC"/>
              </a:rPr>
              <a:t>Un’evoluzione della asimmetrica è la </a:t>
            </a:r>
            <a:r>
              <a:rPr lang="it-IT" sz="2800" b="0" i="0" u="none" strike="noStrike" dirty="0">
                <a:solidFill>
                  <a:srgbClr val="4199FF"/>
                </a:solidFill>
                <a:effectLst/>
                <a:latin typeface="Noto Sans TC"/>
                <a:hlinkClick r:id="rId2"/>
              </a:rPr>
              <a:t>crittografia end-to-end</a:t>
            </a:r>
            <a:r>
              <a:rPr lang="it-IT" sz="2800" b="0" i="0" dirty="0">
                <a:solidFill>
                  <a:srgbClr val="454545"/>
                </a:solidFill>
                <a:effectLst/>
                <a:latin typeface="Noto Sans TC"/>
              </a:rPr>
              <a:t>, impiegata per esempio nella messaggistica Whatsapp.</a:t>
            </a:r>
          </a:p>
          <a:p>
            <a:pPr algn="l">
              <a:lnSpc>
                <a:spcPct val="150000"/>
              </a:lnSpc>
            </a:pPr>
            <a:r>
              <a:rPr lang="it-IT" sz="2800" b="0" i="0" dirty="0">
                <a:solidFill>
                  <a:srgbClr val="454545"/>
                </a:solidFill>
                <a:effectLst/>
                <a:latin typeface="Noto Sans TC"/>
              </a:rPr>
              <a:t>Molti protocolli si basano sulla crittografia asimmetrica, compresi i protocolli TLS (</a:t>
            </a:r>
            <a:r>
              <a:rPr lang="it-IT" sz="2800" b="0" i="0" dirty="0" err="1">
                <a:solidFill>
                  <a:srgbClr val="454545"/>
                </a:solidFill>
                <a:effectLst/>
                <a:latin typeface="Noto Sans TC"/>
              </a:rPr>
              <a:t>Transport</a:t>
            </a:r>
            <a:r>
              <a:rPr lang="it-IT" sz="2800" b="0" i="0" dirty="0">
                <a:solidFill>
                  <a:srgbClr val="454545"/>
                </a:solidFill>
                <a:effectLst/>
                <a:latin typeface="Noto Sans TC"/>
              </a:rPr>
              <a:t> Layer Security) e SSL (Secure Sockets Layer), che rendono possibile HTTPS.</a:t>
            </a:r>
          </a:p>
          <a:p>
            <a:pPr algn="l">
              <a:lnSpc>
                <a:spcPct val="150000"/>
              </a:lnSpc>
            </a:pPr>
            <a:r>
              <a:rPr lang="it-IT" sz="2800" b="0" i="0" dirty="0">
                <a:solidFill>
                  <a:srgbClr val="454545"/>
                </a:solidFill>
                <a:effectLst/>
                <a:latin typeface="Noto Sans TC"/>
              </a:rPr>
              <a:t>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621728-AF37-3FDB-FAAA-2A0EBBF14C80}"/>
              </a:ext>
            </a:extLst>
          </p:cNvPr>
          <p:cNvSpPr txBox="1"/>
          <p:nvPr/>
        </p:nvSpPr>
        <p:spPr>
          <a:xfrm>
            <a:off x="3657600" y="617308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Esempi di utilizzo di chiavi asimmetriche</a:t>
            </a:r>
          </a:p>
        </p:txBody>
      </p:sp>
    </p:spTree>
    <p:extLst>
      <p:ext uri="{BB962C8B-B14F-4D97-AF65-F5344CB8AC3E}">
        <p14:creationId xmlns:p14="http://schemas.microsoft.com/office/powerpoint/2010/main" val="247453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068F68-CAE3-6A22-57F8-AD5311F86CFF}"/>
              </a:ext>
            </a:extLst>
          </p:cNvPr>
          <p:cNvSpPr txBox="1"/>
          <p:nvPr/>
        </p:nvSpPr>
        <p:spPr>
          <a:xfrm>
            <a:off x="974361" y="1738701"/>
            <a:ext cx="12112052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000" dirty="0">
                <a:solidFill>
                  <a:srgbClr val="405449"/>
                </a:solidFill>
                <a:latin typeface="Nobile" pitchFamily="34" charset="0"/>
              </a:rPr>
              <a:t>OGNI UTENTE (A  e B) POSSIEDE UNA CHIAVE PUBBLICA ED UNA PRIVATA,</a:t>
            </a:r>
            <a:r>
              <a:rPr lang="it-IT" sz="2000" b="1" dirty="0">
                <a:solidFill>
                  <a:srgbClr val="405449"/>
                </a:solidFill>
                <a:latin typeface="Nobile" pitchFamily="34" charset="0"/>
              </a:rPr>
              <a:t>QUINDI DUE COPPIE DI CHIAVI</a:t>
            </a:r>
          </a:p>
          <a:p>
            <a:pPr>
              <a:lnSpc>
                <a:spcPct val="200000"/>
              </a:lnSpc>
            </a:pPr>
            <a:endParaRPr lang="it-IT" sz="2000" dirty="0">
              <a:solidFill>
                <a:srgbClr val="405449"/>
              </a:solidFill>
              <a:latin typeface="Nobile" pitchFamily="34" charset="0"/>
            </a:endParaRPr>
          </a:p>
          <a:p>
            <a:pPr>
              <a:lnSpc>
                <a:spcPct val="200000"/>
              </a:lnSpc>
            </a:pPr>
            <a:r>
              <a:rPr lang="it-IT" sz="2000" b="1" dirty="0">
                <a:solidFill>
                  <a:srgbClr val="405449"/>
                </a:solidFill>
                <a:latin typeface="Nobile" pitchFamily="34" charset="0"/>
              </a:rPr>
              <a:t>OGNI CHIAVE HA UNA FUNZIONE DIVERSA</a:t>
            </a:r>
            <a:r>
              <a:rPr lang="it-IT" sz="2000" dirty="0">
                <a:solidFill>
                  <a:srgbClr val="405449"/>
                </a:solidFill>
                <a:latin typeface="Nobile" pitchFamily="34" charset="0"/>
              </a:rPr>
              <a:t>,PER CUI SE AD ESEMPIO CIFRO CON PRIV A POSSO DECIFRARE CON PUB A</a:t>
            </a:r>
          </a:p>
          <a:p>
            <a:pPr>
              <a:lnSpc>
                <a:spcPct val="200000"/>
              </a:lnSpc>
            </a:pPr>
            <a:endParaRPr lang="it-IT" sz="2000" dirty="0">
              <a:solidFill>
                <a:srgbClr val="405449"/>
              </a:solidFill>
              <a:latin typeface="Nobile" pitchFamily="34" charset="0"/>
            </a:endParaRPr>
          </a:p>
          <a:p>
            <a:pPr>
              <a:lnSpc>
                <a:spcPct val="200000"/>
              </a:lnSpc>
            </a:pPr>
            <a:r>
              <a:rPr lang="it-IT" sz="2000" b="1" dirty="0">
                <a:solidFill>
                  <a:srgbClr val="405449"/>
                </a:solidFill>
                <a:latin typeface="Nobile" pitchFamily="34" charset="0"/>
              </a:rPr>
              <a:t>LE CHIAVI PUBBLICHE SONO NOTE A TUTTI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699594-3090-6097-86C6-D79F0DCF3336}"/>
              </a:ext>
            </a:extLst>
          </p:cNvPr>
          <p:cNvSpPr txBox="1"/>
          <p:nvPr/>
        </p:nvSpPr>
        <p:spPr>
          <a:xfrm>
            <a:off x="3080478" y="595025"/>
            <a:ext cx="731520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400" b="1" dirty="0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Regole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3243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705DA302-BD09-74C4-FC8C-49846ADCF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" y="813827"/>
            <a:ext cx="13284598" cy="660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9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8247"/>
            <a:ext cx="1120199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Principi della Doppia Cifratura con Chiave Asimmetrica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061216"/>
            <a:ext cx="4215289" cy="2459355"/>
          </a:xfrm>
          <a:prstGeom prst="roundRect">
            <a:avLst>
              <a:gd name="adj" fmla="val 726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93790" y="3061216"/>
            <a:ext cx="45720" cy="2459355"/>
          </a:xfrm>
          <a:prstGeom prst="roundRect">
            <a:avLst>
              <a:gd name="adj" fmla="val 39069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60728" y="32824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Autocertificazione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0728" y="3711654"/>
            <a:ext cx="37271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Quando </a:t>
            </a:r>
            <a:r>
              <a:rPr lang="en-US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cifra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 la sua </a:t>
            </a:r>
            <a:r>
              <a:rPr lang="en-US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privata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autocertifica il messaggio. Questo dimostra che è proprio A a inviare il messaggio.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07437" y="3061216"/>
            <a:ext cx="4215408" cy="2459355"/>
          </a:xfrm>
          <a:prstGeom prst="roundRect">
            <a:avLst>
              <a:gd name="adj" fmla="val 726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207437" y="3061216"/>
            <a:ext cx="45720" cy="2459355"/>
          </a:xfrm>
          <a:prstGeom prst="roundRect">
            <a:avLst>
              <a:gd name="adj" fmla="val 39069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74375" y="32824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Riservatezza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74375" y="3711654"/>
            <a:ext cx="37272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Quando </a:t>
            </a:r>
            <a:r>
              <a:rPr lang="en-US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cifra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 la </a:t>
            </a:r>
            <a:r>
              <a:rPr lang="en-US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pubblica di B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garantisce la riservatezza. Solo B potrà decifrare il messaggio.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621203" y="3061216"/>
            <a:ext cx="4215289" cy="2459355"/>
          </a:xfrm>
          <a:prstGeom prst="roundRect">
            <a:avLst>
              <a:gd name="adj" fmla="val 726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9621203" y="3061216"/>
            <a:ext cx="45720" cy="2459355"/>
          </a:xfrm>
          <a:prstGeom prst="roundRect">
            <a:avLst>
              <a:gd name="adj" fmla="val 39069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888141" y="32824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Sicurezza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19561" y="3592592"/>
            <a:ext cx="3749993" cy="183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il messaggio venisse intercettato in rete, per aprirlo occorrerebbe conoscere sia la </a:t>
            </a:r>
            <a:r>
              <a:rPr lang="en-US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privata di B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sia la </a:t>
            </a:r>
            <a:r>
              <a:rPr lang="en-US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pubblica di A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(che tutti conoscono).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3790" y="574381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combinazione di queste tecniche crea un sistema di comunicazione con elevati standard di sicurezza, autenticazione e non ripudio.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1710"/>
            <a:ext cx="70700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Firma Digitale: Un'Identità Digitale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199680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</a:t>
            </a: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firma digitale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è un metodo matematico che dimostra l'autenticità di un messaggio o documento digitale inviato attraverso un canale di comunicazione </a:t>
            </a: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 sicuro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50657"/>
            <a:ext cx="36183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Obiettivi della firma digitale: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3884057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438632" y="39522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Autenticazione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38632" y="4460796"/>
            <a:ext cx="304716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destinatario può verificare che il mittente sia chi dice di essere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733806" y="3884057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378648" y="39522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Non ripudio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78648" y="4460796"/>
            <a:ext cx="304716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mittente non può negare di aver inviato il messaggio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5810250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438632" y="58784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Integrità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38632" y="6386989"/>
            <a:ext cx="69871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Garantisce che il messaggio non sia stato alterato durante la trasmissione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917543" y="2199680"/>
            <a:ext cx="49265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firme digitali si basano su algoritmi crittografici avanzati e sono utilizzate in transazioni finanziarie, documenti legali e comunicazioni sicure.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/>
        </p:nvSpPr>
        <p:spPr>
          <a:xfrm>
            <a:off x="3880485" y="1263016"/>
            <a:ext cx="5962175" cy="83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r>
              <a:rPr lang="it-IT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                                                                                                   B</a:t>
            </a:r>
            <a:endParaRPr sz="2160"/>
          </a:p>
          <a:p>
            <a:r>
              <a:rPr lang="it-IT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 A                                                                                         PUB B</a:t>
            </a:r>
            <a:endParaRPr sz="2160"/>
          </a:p>
          <a:p>
            <a:r>
              <a:rPr lang="it-IT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 A                                                                                        PRIV B</a:t>
            </a:r>
            <a:endParaRPr sz="2160"/>
          </a:p>
        </p:txBody>
      </p:sp>
      <p:cxnSp>
        <p:nvCxnSpPr>
          <p:cNvPr id="210" name="Google Shape;210;p15"/>
          <p:cNvCxnSpPr/>
          <p:nvPr/>
        </p:nvCxnSpPr>
        <p:spPr>
          <a:xfrm>
            <a:off x="4074796" y="2094548"/>
            <a:ext cx="0" cy="4000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1" name="Google Shape;211;p15"/>
          <p:cNvSpPr txBox="1"/>
          <p:nvPr/>
        </p:nvSpPr>
        <p:spPr>
          <a:xfrm>
            <a:off x="3686174" y="2494600"/>
            <a:ext cx="2851786" cy="83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r>
              <a:rPr lang="it-IT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VUOLE INVIARE A B UN DOCUMENTO CON LA FIRMA DIGITALE</a:t>
            </a:r>
            <a:endParaRPr sz="2160"/>
          </a:p>
        </p:txBody>
      </p:sp>
      <p:cxnSp>
        <p:nvCxnSpPr>
          <p:cNvPr id="212" name="Google Shape;212;p15"/>
          <p:cNvCxnSpPr/>
          <p:nvPr/>
        </p:nvCxnSpPr>
        <p:spPr>
          <a:xfrm>
            <a:off x="4362222" y="3326131"/>
            <a:ext cx="0" cy="27003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213" name="Google Shape;213;p15"/>
          <p:cNvGraphicFramePr/>
          <p:nvPr/>
        </p:nvGraphicFramePr>
        <p:xfrm>
          <a:off x="3782616" y="3596163"/>
          <a:ext cx="1081553" cy="27004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81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04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Documento</a:t>
                      </a:r>
                      <a:endParaRPr sz="1200"/>
                    </a:p>
                  </a:txBody>
                  <a:tcPr marL="82260" marR="82260" marT="41153" marB="4115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4" name="Google Shape;214;p15"/>
          <p:cNvSpPr/>
          <p:nvPr/>
        </p:nvSpPr>
        <p:spPr>
          <a:xfrm>
            <a:off x="3686174" y="3949961"/>
            <a:ext cx="1274446" cy="15030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283" tIns="41130" rIns="82283" bIns="41130" anchor="ctr" anchorCtr="0">
            <a:noAutofit/>
          </a:bodyPr>
          <a:lstStyle/>
          <a:p>
            <a:pPr algn="ctr"/>
            <a:r>
              <a:rPr lang="it-IT" sz="1620">
                <a:solidFill>
                  <a:schemeClr val="dk1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aaaaavvvbb</a:t>
            </a:r>
            <a:r>
              <a:rPr lang="it-IT" sz="162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bbbfffffffhhhhhhhhkkkkkkkjjjjk</a:t>
            </a:r>
            <a:endParaRPr sz="162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3133527" y="1558172"/>
            <a:ext cx="1274446" cy="15030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283" tIns="41130" rIns="82283" bIns="41130" anchor="ctr" anchorCtr="0">
            <a:noAutofit/>
          </a:bodyPr>
          <a:lstStyle/>
          <a:p>
            <a:pPr algn="ctr"/>
            <a:r>
              <a:rPr lang="it-IT" sz="1620">
                <a:solidFill>
                  <a:schemeClr val="dk1"/>
                </a:solidFill>
                <a:highlight>
                  <a:srgbClr val="FFFF00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aaaaavvvbb</a:t>
            </a:r>
            <a:r>
              <a:rPr lang="it-IT" sz="162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bbbfffffffhhhhhhhhkkkkkkkjjjjk</a:t>
            </a:r>
            <a:endParaRPr sz="162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20" name="Google Shape;220;p16"/>
          <p:cNvCxnSpPr/>
          <p:nvPr/>
        </p:nvCxnSpPr>
        <p:spPr>
          <a:xfrm>
            <a:off x="3761030" y="3061219"/>
            <a:ext cx="0" cy="6298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16"/>
          <p:cNvSpPr txBox="1"/>
          <p:nvPr/>
        </p:nvSpPr>
        <p:spPr>
          <a:xfrm>
            <a:off x="2714377" y="3587032"/>
            <a:ext cx="2388373" cy="108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r>
              <a:rPr lang="it-IT" sz="162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Partendo dal documento si crea un digest utilizzando una una funzione hash</a:t>
            </a:r>
            <a:endParaRPr sz="162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2569016" y="5026944"/>
            <a:ext cx="2533733" cy="581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r>
              <a:rPr lang="it-IT" sz="162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Esempio 0100000000000</a:t>
            </a:r>
            <a:endParaRPr sz="2160"/>
          </a:p>
        </p:txBody>
      </p:sp>
      <p:cxnSp>
        <p:nvCxnSpPr>
          <p:cNvPr id="223" name="Google Shape;223;p16"/>
          <p:cNvCxnSpPr/>
          <p:nvPr/>
        </p:nvCxnSpPr>
        <p:spPr>
          <a:xfrm>
            <a:off x="3521682" y="4590020"/>
            <a:ext cx="0" cy="43692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4572745" y="3948600"/>
            <a:ext cx="5487890" cy="3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endParaRPr sz="162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16"/>
          <p:cNvSpPr txBox="1">
            <a:spLocks noGrp="1"/>
          </p:cNvSpPr>
          <p:nvPr>
            <p:ph type="ftr" idx="11"/>
          </p:nvPr>
        </p:nvSpPr>
        <p:spPr>
          <a:xfrm>
            <a:off x="2249972" y="6041350"/>
            <a:ext cx="2777490" cy="6300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2283" tIns="41130" rIns="82283" bIns="41130" rtlCol="0" anchor="b" anchorCtr="0">
            <a:noAutofit/>
          </a:bodyPr>
          <a:lstStyle/>
          <a:p>
            <a:r>
              <a:rPr lang="it-IT" sz="1620" b="1"/>
              <a:t>Il digest prodotto e’ di solito di 128 o 160 bit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5828808" y="5940891"/>
            <a:ext cx="5076409" cy="83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spAutoFit/>
          </a:bodyPr>
          <a:lstStyle/>
          <a:p>
            <a:r>
              <a:rPr lang="it-IT" sz="162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Il digest e’ praticamenteunivoco  cioe’ se si modifica anche un solo carattere nel documento,il digest prodotto cambia!</a:t>
            </a:r>
            <a:endParaRPr sz="216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4246C6E1-4AF8-4073-9350-B676EB4A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it-IT" dirty="0"/>
              <a:t> </a:t>
            </a:r>
          </a:p>
        </p:txBody>
      </p:sp>
      <p:sp>
        <p:nvSpPr>
          <p:cNvPr id="32771" name="CasellaDiTesto 2">
            <a:extLst>
              <a:ext uri="{FF2B5EF4-FFF2-40B4-BE49-F238E27FC236}">
                <a16:creationId xmlns:a16="http://schemas.microsoft.com/office/drawing/2014/main" id="{A7F87F4A-05EE-4253-9577-94BAFB4E1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485" y="1263017"/>
            <a:ext cx="596217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 dirty="0"/>
              <a:t>A                                                                                B                       </a:t>
            </a:r>
          </a:p>
          <a:p>
            <a:r>
              <a:rPr lang="it-IT" altLang="it-IT" sz="2160" dirty="0"/>
              <a:t>PUB A                                                                 PUB B</a:t>
            </a:r>
          </a:p>
          <a:p>
            <a:r>
              <a:rPr lang="it-IT" altLang="it-IT" sz="2160" dirty="0"/>
              <a:t>PRIV A                                                                PRIV B</a:t>
            </a:r>
          </a:p>
          <a:p>
            <a:r>
              <a:rPr lang="it-IT" altLang="it-IT" sz="2160" dirty="0"/>
              <a:t>P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3D9F42AC-16FD-4C96-87F8-2D648BD6F68C}"/>
              </a:ext>
            </a:extLst>
          </p:cNvPr>
          <p:cNvCxnSpPr/>
          <p:nvPr/>
        </p:nvCxnSpPr>
        <p:spPr>
          <a:xfrm>
            <a:off x="4399122" y="2926081"/>
            <a:ext cx="0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3" name="CasellaDiTesto 5">
            <a:extLst>
              <a:ext uri="{FF2B5EF4-FFF2-40B4-BE49-F238E27FC236}">
                <a16:creationId xmlns:a16="http://schemas.microsoft.com/office/drawing/2014/main" id="{722D1A61-7E6C-4E31-9763-85108B986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6408" y="580359"/>
            <a:ext cx="1393777" cy="574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 dirty="0"/>
              <a:t>La funzione di </a:t>
            </a:r>
            <a:r>
              <a:rPr lang="it-IT" altLang="it-IT" sz="2160" dirty="0" err="1"/>
              <a:t>hash</a:t>
            </a:r>
            <a:r>
              <a:rPr lang="it-IT" altLang="it-IT" sz="2160" dirty="0"/>
              <a:t> che viene applicata </a:t>
            </a:r>
            <a:r>
              <a:rPr lang="it-IT" altLang="it-IT" sz="2160" dirty="0" err="1"/>
              <a:t>e’</a:t>
            </a:r>
            <a:r>
              <a:rPr lang="it-IT" altLang="it-IT" sz="2160" dirty="0"/>
              <a:t> molto complessa </a:t>
            </a:r>
            <a:r>
              <a:rPr lang="it-IT" altLang="it-IT" sz="2160" dirty="0" err="1"/>
              <a:t>perche</a:t>
            </a:r>
            <a:r>
              <a:rPr lang="it-IT" altLang="it-IT" sz="2160" dirty="0"/>
              <a:t>’ rende minima la probabilità che testi diversi possano generare  la stessa sequenza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4C811E1-C9D4-46E7-89CC-F906386C8C4A}"/>
              </a:ext>
            </a:extLst>
          </p:cNvPr>
          <p:cNvCxnSpPr/>
          <p:nvPr/>
        </p:nvCxnSpPr>
        <p:spPr>
          <a:xfrm>
            <a:off x="9149567" y="2524797"/>
            <a:ext cx="0" cy="270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32CF96A-807F-4CFE-9A0F-FA6E789FCED7}"/>
              </a:ext>
            </a:extLst>
          </p:cNvPr>
          <p:cNvCxnSpPr/>
          <p:nvPr/>
        </p:nvCxnSpPr>
        <p:spPr>
          <a:xfrm>
            <a:off x="4590947" y="4204067"/>
            <a:ext cx="0" cy="58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6" name="CasellaDiTesto 11">
            <a:extLst>
              <a:ext uri="{FF2B5EF4-FFF2-40B4-BE49-F238E27FC236}">
                <a16:creationId xmlns:a16="http://schemas.microsoft.com/office/drawing/2014/main" id="{A0CE6BFA-A1F8-4A5E-85D5-6D1F411D0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451" y="5181477"/>
            <a:ext cx="4012427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 dirty="0"/>
              <a:t>VIENE POI PRODOTTO IL DOCUMENTO CIFRATO CON PUB  B</a:t>
            </a:r>
          </a:p>
          <a:p>
            <a:r>
              <a:rPr lang="it-IT" altLang="it-IT" sz="2160" b="1" dirty="0"/>
              <a:t> </a:t>
            </a:r>
          </a:p>
        </p:txBody>
      </p:sp>
      <p:sp>
        <p:nvSpPr>
          <p:cNvPr id="32777" name="CasellaDiTesto 3">
            <a:extLst>
              <a:ext uri="{FF2B5EF4-FFF2-40B4-BE49-F238E27FC236}">
                <a16:creationId xmlns:a16="http://schemas.microsoft.com/office/drawing/2014/main" id="{BF5457CC-7B6C-4032-987E-6680D46AA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7" y="3726181"/>
            <a:ext cx="447198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 dirty="0"/>
              <a:t>Questo DIGEST viene poi cifrato con la chiave PRIVATA di A 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B683AF3-0906-44AD-A015-3A73C7A1F77D}"/>
              </a:ext>
            </a:extLst>
          </p:cNvPr>
          <p:cNvSpPr/>
          <p:nvPr/>
        </p:nvSpPr>
        <p:spPr>
          <a:xfrm>
            <a:off x="3686176" y="5906077"/>
            <a:ext cx="2314576" cy="9229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it-IT" sz="2160" dirty="0"/>
              <a:t>documento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7049B88-70EC-4E2A-BB91-A45FA59E695F}"/>
              </a:ext>
            </a:extLst>
          </p:cNvPr>
          <p:cNvCxnSpPr>
            <a:cxnSpLocks/>
          </p:cNvCxnSpPr>
          <p:nvPr/>
        </p:nvCxnSpPr>
        <p:spPr>
          <a:xfrm>
            <a:off x="3793332" y="5913371"/>
            <a:ext cx="1211580" cy="581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FEB0661-0424-4D4C-8537-F6883125F64F}"/>
              </a:ext>
            </a:extLst>
          </p:cNvPr>
          <p:cNvCxnSpPr>
            <a:cxnSpLocks/>
          </p:cNvCxnSpPr>
          <p:nvPr/>
        </p:nvCxnSpPr>
        <p:spPr>
          <a:xfrm flipV="1">
            <a:off x="4907222" y="5912159"/>
            <a:ext cx="1165860" cy="5815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FBB149-4502-4B58-BD77-678EE1AE4A79}"/>
              </a:ext>
            </a:extLst>
          </p:cNvPr>
          <p:cNvSpPr txBox="1"/>
          <p:nvPr/>
        </p:nvSpPr>
        <p:spPr>
          <a:xfrm>
            <a:off x="3709472" y="4740144"/>
            <a:ext cx="187694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it-IT" sz="2160" dirty="0"/>
              <a:t>0100000000000</a:t>
            </a:r>
            <a:endParaRPr lang="it-IT" sz="2160" dirty="0"/>
          </a:p>
        </p:txBody>
      </p:sp>
      <p:pic>
        <p:nvPicPr>
          <p:cNvPr id="12" name="Immagine 11" descr="Chiavi di una casa">
            <a:extLst>
              <a:ext uri="{FF2B5EF4-FFF2-40B4-BE49-F238E27FC236}">
                <a16:creationId xmlns:a16="http://schemas.microsoft.com/office/drawing/2014/main" id="{479B3EC3-28F6-45E5-A667-A9E26DBD7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832" y="4420298"/>
            <a:ext cx="1294519" cy="864066"/>
          </a:xfrm>
          <a:prstGeom prst="rect">
            <a:avLst/>
          </a:prstGeom>
        </p:spPr>
      </p:pic>
      <p:pic>
        <p:nvPicPr>
          <p:cNvPr id="14" name="Immagine 13" descr="Immagine che contiene pistola, arma&#10;&#10;Descrizione generata automaticamente">
            <a:extLst>
              <a:ext uri="{FF2B5EF4-FFF2-40B4-BE49-F238E27FC236}">
                <a16:creationId xmlns:a16="http://schemas.microsoft.com/office/drawing/2014/main" id="{04E37185-B5BC-4E6E-9DAA-C782899F6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6288501" y="5883873"/>
            <a:ext cx="1235795" cy="92684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C1447C4-70CF-43D7-A1D4-D0FAE33FE01E}"/>
              </a:ext>
            </a:extLst>
          </p:cNvPr>
          <p:cNvSpPr txBox="1"/>
          <p:nvPr/>
        </p:nvSpPr>
        <p:spPr>
          <a:xfrm flipH="1">
            <a:off x="6435869" y="7161271"/>
            <a:ext cx="108842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10">
                <a:hlinkClick r:id="rId4" tooltip="https://it.wiktionary.org/wiki/chiave"/>
              </a:rPr>
              <a:t>Questa foto</a:t>
            </a:r>
            <a:r>
              <a:rPr lang="it-IT" sz="810"/>
              <a:t> di Autore sconosciuto è concesso in licenza da </a:t>
            </a:r>
            <a:r>
              <a:rPr lang="it-IT" sz="810">
                <a:hlinkClick r:id="rId5" tooltip="https://creativecommons.org/licenses/by-sa/3.0/"/>
              </a:rPr>
              <a:t>CC BY-SA</a:t>
            </a:r>
            <a:endParaRPr lang="it-IT" sz="81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3" grpId="0"/>
      <p:bldP spid="32776" grpId="0"/>
      <p:bldP spid="32777" grpId="0"/>
      <p:bldP spid="4" grpId="0" animBg="1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F4380D2D-447A-4940-8322-51ECE4C4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it-IT" dirty="0"/>
              <a:t> </a:t>
            </a:r>
          </a:p>
        </p:txBody>
      </p:sp>
      <p:sp>
        <p:nvSpPr>
          <p:cNvPr id="33795" name="CasellaDiTesto 2">
            <a:extLst>
              <a:ext uri="{FF2B5EF4-FFF2-40B4-BE49-F238E27FC236}">
                <a16:creationId xmlns:a16="http://schemas.microsoft.com/office/drawing/2014/main" id="{FAEB0183-55C9-4D68-BA30-842CF8545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781" y="1328739"/>
            <a:ext cx="1361598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 dirty="0"/>
              <a:t>A PUB A</a:t>
            </a:r>
          </a:p>
          <a:p>
            <a:r>
              <a:rPr lang="it-IT" altLang="it-IT" sz="2160" dirty="0"/>
              <a:t>    PRIV A</a:t>
            </a:r>
          </a:p>
        </p:txBody>
      </p:sp>
      <p:sp>
        <p:nvSpPr>
          <p:cNvPr id="33796" name="CasellaDiTesto 3">
            <a:extLst>
              <a:ext uri="{FF2B5EF4-FFF2-40B4-BE49-F238E27FC236}">
                <a16:creationId xmlns:a16="http://schemas.microsoft.com/office/drawing/2014/main" id="{5B423E09-F77C-4105-8D2B-7121F7449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2440" y="1263017"/>
            <a:ext cx="1880236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 dirty="0"/>
              <a:t>B PUB B</a:t>
            </a:r>
          </a:p>
          <a:p>
            <a:r>
              <a:rPr lang="it-IT" altLang="it-IT" sz="2160" dirty="0"/>
              <a:t>    PRIV B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7F898953-3028-40A9-8216-CC85AF027F88}"/>
              </a:ext>
            </a:extLst>
          </p:cNvPr>
          <p:cNvCxnSpPr/>
          <p:nvPr/>
        </p:nvCxnSpPr>
        <p:spPr>
          <a:xfrm>
            <a:off x="5212081" y="3013235"/>
            <a:ext cx="2398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CasellaDiTesto 12">
            <a:extLst>
              <a:ext uri="{FF2B5EF4-FFF2-40B4-BE49-F238E27FC236}">
                <a16:creationId xmlns:a16="http://schemas.microsoft.com/office/drawing/2014/main" id="{CC2C1E50-FB07-4A07-838E-48FC1C966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783" y="3920490"/>
            <a:ext cx="265747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it-IT" altLang="it-IT" sz="2160"/>
              <a:t> 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F1B36EA-7375-42E2-BB8C-E0A978F2B7B2}"/>
              </a:ext>
            </a:extLst>
          </p:cNvPr>
          <p:cNvSpPr/>
          <p:nvPr/>
        </p:nvSpPr>
        <p:spPr>
          <a:xfrm>
            <a:off x="5306380" y="1717357"/>
            <a:ext cx="1878806" cy="1165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it-IT" sz="2160" dirty="0"/>
              <a:t>Messaggio cifrato con PUB B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DD6396C-6517-49EA-A5FE-91E90010F5CB}"/>
              </a:ext>
            </a:extLst>
          </p:cNvPr>
          <p:cNvSpPr/>
          <p:nvPr/>
        </p:nvSpPr>
        <p:spPr>
          <a:xfrm>
            <a:off x="5112068" y="4746309"/>
            <a:ext cx="2826316" cy="581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it-IT" sz="2160" dirty="0"/>
              <a:t>Digest cifrato con PRIV 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13F7EE7-0D7D-48CC-AD2E-E1EC77F1EE19}"/>
              </a:ext>
            </a:extLst>
          </p:cNvPr>
          <p:cNvSpPr/>
          <p:nvPr/>
        </p:nvSpPr>
        <p:spPr>
          <a:xfrm>
            <a:off x="8286750" y="1910239"/>
            <a:ext cx="2138839" cy="1165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it-IT" sz="2160" dirty="0"/>
              <a:t>B decifra il messaggio con PRIV B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736B433-9A60-4071-BBAE-1E757CFC45BF}"/>
              </a:ext>
            </a:extLst>
          </p:cNvPr>
          <p:cNvSpPr/>
          <p:nvPr/>
        </p:nvSpPr>
        <p:spPr>
          <a:xfrm>
            <a:off x="8352474" y="3337561"/>
            <a:ext cx="2591753" cy="10044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it-IT" sz="2160" dirty="0"/>
              <a:t>Con la funzione </a:t>
            </a:r>
            <a:r>
              <a:rPr lang="it-IT" sz="2160" dirty="0" err="1"/>
              <a:t>hash</a:t>
            </a:r>
            <a:r>
              <a:rPr lang="it-IT" sz="2160" dirty="0"/>
              <a:t> calcola il digest del messaggio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1C901248-7017-43F7-B926-A7A997DFD435}"/>
              </a:ext>
            </a:extLst>
          </p:cNvPr>
          <p:cNvCxnSpPr/>
          <p:nvPr/>
        </p:nvCxnSpPr>
        <p:spPr>
          <a:xfrm>
            <a:off x="5112069" y="4569143"/>
            <a:ext cx="2397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tangolo 18">
            <a:extLst>
              <a:ext uri="{FF2B5EF4-FFF2-40B4-BE49-F238E27FC236}">
                <a16:creationId xmlns:a16="http://schemas.microsoft.com/office/drawing/2014/main" id="{0F3F6C95-5615-42B9-904F-94E5B0F4B27D}"/>
              </a:ext>
            </a:extLst>
          </p:cNvPr>
          <p:cNvSpPr/>
          <p:nvPr/>
        </p:nvSpPr>
        <p:spPr>
          <a:xfrm>
            <a:off x="8416767" y="4633436"/>
            <a:ext cx="2268856" cy="1357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it-IT" sz="2160" dirty="0"/>
              <a:t>Con PUB A decodifica il digest che arriva e confronta i due digest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78C974B-328D-4411-AD95-98B64A1147F3}"/>
              </a:ext>
            </a:extLst>
          </p:cNvPr>
          <p:cNvSpPr txBox="1"/>
          <p:nvPr/>
        </p:nvSpPr>
        <p:spPr>
          <a:xfrm>
            <a:off x="11204258" y="3676485"/>
            <a:ext cx="108150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>
                <a:highlight>
                  <a:srgbClr val="FFFF00"/>
                </a:highlight>
              </a:rPr>
              <a:t>digest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62B9A5E-0946-4791-A8E1-B4A9DAC65853}"/>
              </a:ext>
            </a:extLst>
          </p:cNvPr>
          <p:cNvSpPr txBox="1"/>
          <p:nvPr/>
        </p:nvSpPr>
        <p:spPr>
          <a:xfrm>
            <a:off x="10924720" y="4891390"/>
            <a:ext cx="108150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>
                <a:highlight>
                  <a:srgbClr val="FF0000"/>
                </a:highlight>
              </a:rPr>
              <a:t>digest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FAE132B-F14B-42D6-AC8E-83B08EB906F8}"/>
              </a:ext>
            </a:extLst>
          </p:cNvPr>
          <p:cNvSpPr txBox="1"/>
          <p:nvPr/>
        </p:nvSpPr>
        <p:spPr>
          <a:xfrm>
            <a:off x="4969764" y="6145117"/>
            <a:ext cx="386016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60" dirty="0"/>
              <a:t>I due digest sono </a:t>
            </a:r>
            <a:r>
              <a:rPr lang="it-IT" sz="2160" dirty="0" err="1"/>
              <a:t>uguali?se</a:t>
            </a:r>
            <a:r>
              <a:rPr lang="it-IT" sz="2160" dirty="0"/>
              <a:t> si sono sicura che sia stato A ad inviarlo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  <p:bldP spid="14" grpId="0" animBg="1"/>
      <p:bldP spid="15" grpId="0" animBg="1"/>
      <p:bldP spid="16" grpId="0" animBg="1"/>
      <p:bldP spid="17" grpId="0" animBg="1"/>
      <p:bldP spid="19" grpId="0" animBg="1"/>
      <p:bldP spid="4" grpId="0"/>
      <p:bldP spid="21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4662"/>
            <a:ext cx="683240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Scenario di Comunicazione Sicura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997631"/>
            <a:ext cx="6422231" cy="2760702"/>
          </a:xfrm>
          <a:prstGeom prst="roundRect">
            <a:avLst>
              <a:gd name="adj" fmla="val 647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92148" y="219598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59" y="2326124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29896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Utente A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41888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Possiede: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2148" y="385548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pubblica (PUB A)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92148" y="424243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privata (PRIV A)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414379" y="1997631"/>
            <a:ext cx="6422231" cy="2760702"/>
          </a:xfrm>
          <a:prstGeom prst="roundRect">
            <a:avLst>
              <a:gd name="adj" fmla="val 647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2737" y="219598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48" y="2326124"/>
            <a:ext cx="267891" cy="3349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2737" y="29896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Utente B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612737" y="341888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Possiede: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612737" y="385548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pubblica (PUB B)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612737" y="424243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 privata (PRIV B)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05576" y="5055989"/>
            <a:ext cx="54192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Documento da firmare digitalmente</a:t>
            </a:r>
            <a:endParaRPr lang="en-US" sz="2300" dirty="0"/>
          </a:p>
        </p:txBody>
      </p:sp>
      <p:sp>
        <p:nvSpPr>
          <p:cNvPr id="18" name="Shape 14"/>
          <p:cNvSpPr/>
          <p:nvPr/>
        </p:nvSpPr>
        <p:spPr>
          <a:xfrm>
            <a:off x="793790" y="5725716"/>
            <a:ext cx="13042821" cy="858441"/>
          </a:xfrm>
          <a:prstGeom prst="roundRect">
            <a:avLst>
              <a:gd name="adj" fmla="val 2080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8" y="6013371"/>
            <a:ext cx="248007" cy="1983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38513" y="5973604"/>
            <a:ext cx="1219973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aaaaavvvbbbbbfffffffhhhhhhhhkkkkkkkjjjjk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793790" y="68073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vuole inviare a B questo documento con la propria firma digitale, garantendo così l'autenticità e l'integrità del contenuto.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6676"/>
            <a:ext cx="408824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Creazione del Digest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894409"/>
            <a:ext cx="327493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Documento originale: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489722"/>
            <a:ext cx="6279356" cy="615196"/>
          </a:xfrm>
          <a:prstGeom prst="roundRect">
            <a:avLst>
              <a:gd name="adj" fmla="val 29036"/>
            </a:avLst>
          </a:prstGeom>
          <a:solidFill>
            <a:srgbClr val="C4DAC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83908" y="3489722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C4DAC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82266" y="3638550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C4DA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aaaaavvvbbbbbfffffffhhhhhhhhkkkkkkkjjjjk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32816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Partendo dal documento si crea un </a:t>
            </a: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digest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utilizzando una </a:t>
            </a: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funzione hash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5186482"/>
            <a:ext cx="6279356" cy="843201"/>
          </a:xfrm>
          <a:prstGeom prst="roundRect">
            <a:avLst>
              <a:gd name="adj" fmla="val 21184"/>
            </a:avLst>
          </a:prstGeom>
          <a:solidFill>
            <a:srgbClr val="CCE6D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474137"/>
            <a:ext cx="248007" cy="1983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513" y="5434370"/>
            <a:ext cx="5436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digest prodotto è solitamente di </a:t>
            </a: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128</a:t>
            </a: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 </a:t>
            </a: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160 bit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28944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Esempio di digest: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7564874" y="3489722"/>
            <a:ext cx="6279356" cy="615196"/>
          </a:xfrm>
          <a:prstGeom prst="roundRect">
            <a:avLst>
              <a:gd name="adj" fmla="val 29036"/>
            </a:avLst>
          </a:prstGeom>
          <a:solidFill>
            <a:srgbClr val="C4DAC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7554992" y="3489722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C4DAC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753350" y="3638550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C4DA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0100000000000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432816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digest è praticamente </a:t>
            </a: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univoco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se si modifica anche un solo carattere nel documento, il digest prodotto cambia completamente!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17" y="483989"/>
            <a:ext cx="4715232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Processo di Firma e Cifratura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704017" y="1196816"/>
            <a:ext cx="13222367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funzione di hash applicata è estremamente complessa, rendendo minima la probabilità che testi diversi possano generare la stessa sequenza (collisione).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17" y="1628418"/>
            <a:ext cx="6611183" cy="6336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2370" y="2420422"/>
            <a:ext cx="211609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Documento originale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2370" y="2762845"/>
            <a:ext cx="6294477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Testo in chiaro che deve essere firmato e cifrato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28418"/>
            <a:ext cx="6611183" cy="6336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73553" y="2420422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Creazione digest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473553" y="2762845"/>
            <a:ext cx="6294477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Applicazione della funzione hash per generare un'impronta univoca del documento (0100000000000)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17" y="3428167"/>
            <a:ext cx="6611183" cy="6336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2370" y="4220170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Firma del digest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62370" y="4562594"/>
            <a:ext cx="6294477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digest viene cifrato con la chiave PRIVATA di A, creando la firma digitale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428167"/>
            <a:ext cx="6611183" cy="6336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3553" y="4220170"/>
            <a:ext cx="2125147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Cifratura documento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473553" y="4562594"/>
            <a:ext cx="6294477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documento viene cifrato con la chiave PUBBLICA di B per garantire la riservatezza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04017" y="5548551"/>
            <a:ext cx="9139714" cy="76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combinazione di questi passaggi produce un documento che può essere letto solo da B (grazie alla cifratura con la sua chiave pubblica) e che contiene una prova matematica che è stato A a crearlo (grazie alla firma del digest con la chiave privata di A).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7827" y="5584150"/>
            <a:ext cx="1247537" cy="935593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7827" y="6697861"/>
            <a:ext cx="1306949" cy="8723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0816"/>
            <a:ext cx="6892885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Verifica dell'Autenticità del Messaggio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82497"/>
            <a:ext cx="6432113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2383" y="2596872"/>
            <a:ext cx="262270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Ricezione e decifratura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72383" y="2982992"/>
            <a:ext cx="6074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 riceve il messaggio cifrato con PUB B e lo decifra usando la propria chiave PRIV B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497" y="1614607"/>
            <a:ext cx="643211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3091" y="232898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Calcolo del digest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583091" y="2715101"/>
            <a:ext cx="6074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 calcola il digest del messaggio ricevuto utilizzando la stessa funzione hash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79570"/>
            <a:ext cx="643211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2383" y="489394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Verifica della firma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72383" y="5280065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 decifra il digest firmato usando PUB A (chiave pubblica del mittente)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497" y="3911679"/>
            <a:ext cx="6432113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83091" y="4626054"/>
            <a:ext cx="230814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Confronto dei digest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583091" y="5012174"/>
            <a:ext cx="6074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 confronta i due digest: quello calcolato dal messaggio e quello decifrato dalla firma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93790" y="5963126"/>
            <a:ext cx="13042821" cy="1455539"/>
          </a:xfrm>
          <a:prstGeom prst="roundRect">
            <a:avLst>
              <a:gd name="adj" fmla="val 11045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83" y="6220539"/>
            <a:ext cx="223242" cy="1785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4219" y="6186368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i due digest sono uguali</a:t>
            </a: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B ha la certezza matematica che: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374219" y="6632853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messaggio è stato inviato realmente da A (autenticità)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374219" y="6981111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 contenuto non è stato alterato durante la trasmissione (integrità)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519255"/>
            <a:ext cx="787134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Rappresentazione Grafica del Processo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523863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Questo diagramma illustra il flusso completo del processo di firma digitale e cifratura, evidenziando tutti i passaggi di creazione, trasmissione e verifica del messaggio sicuro. Il sistema garantisce sia la </a:t>
            </a: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riservatezza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(solo il destinatario può leggere il messaggio) sia l'</a:t>
            </a:r>
            <a:r>
              <a:rPr lang="en-US" sz="15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autenticità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(il mittente è verificabile).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9525"/>
            <a:ext cx="511671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Strumenti di Hash Online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33928"/>
            <a:ext cx="7632025" cy="5364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17543" y="18772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Risorse pratiche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8917543" y="2447687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sperimentare con le funzioni hash, potete utilizzare strumenti online come: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917543" y="3261360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https://emn178.github.io/online-tools/sha256.html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17543" y="4075033"/>
            <a:ext cx="49265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Questi strumenti permettono di generare digest utilizzando vari algoritmi hash come SHA-256, SHA-1, MD5 e altri, visualizzando in tempo reale come cambia l'output al variare dell'input.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917543" y="5568434"/>
            <a:ext cx="4926568" cy="1478280"/>
          </a:xfrm>
          <a:prstGeom prst="roundRect">
            <a:avLst>
              <a:gd name="adj" fmla="val 12083"/>
            </a:avLst>
          </a:prstGeom>
          <a:solidFill>
            <a:srgbClr val="CCE6D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901" y="5856089"/>
            <a:ext cx="248007" cy="1983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62267" y="5816322"/>
            <a:ext cx="408348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Provate a inserire testi simili e osservate come anche piccole modifiche producano digest completamente diversi!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573286"/>
            <a:ext cx="5064800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 Funzioni in Crittografia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80190" y="1233011"/>
            <a:ext cx="7556421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Cosa si intende in generale quando si parla di funzione?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562963" y="2434590"/>
            <a:ext cx="7273647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Definizione: F:A→B è una legge che associa </a:t>
            </a:r>
            <a:r>
              <a:rPr lang="en-US" sz="14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 ogni elemento di A uno ed un solo elemento di B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280190" y="2222540"/>
            <a:ext cx="22860" cy="1027509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280190" y="3462099"/>
            <a:ext cx="755642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crittografia, le funzioni hash sono funzioni matematiche unidirezionali con proprietà specifiche che le rendono ideali per la sicurezza informatica: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80190" y="4277558"/>
            <a:ext cx="424220" cy="424220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92885" y="434232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Determinismo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892885" y="4750117"/>
            <a:ext cx="694372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 stesso input produce sempre lo stesso output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80190" y="5428893"/>
            <a:ext cx="424220" cy="424220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892885" y="549366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Unidirezionalità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892885" y="5901452"/>
            <a:ext cx="694372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È computazionalmente impossibile risalire all'input conoscendo solo l'output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80190" y="6580227"/>
            <a:ext cx="424220" cy="424220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892885" y="6644997"/>
            <a:ext cx="2926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Resistenza alle collisioni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892885" y="7052786"/>
            <a:ext cx="694372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È estremamente difficile trovare due input diversi che producano lo stesso output</a:t>
            </a:r>
            <a:endParaRPr lang="en-US" sz="1450" dirty="0"/>
          </a:p>
        </p:txBody>
      </p:sp>
      <p:pic>
        <p:nvPicPr>
          <p:cNvPr id="18" name="Immagine 17" descr="Immagine che contiene Diagramma, line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661186BF-3B35-EB63-158E-05D765A8C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06817" y="2558980"/>
            <a:ext cx="4979726" cy="3248651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99FA012-2699-8C82-F9D0-02A86FA5912C}"/>
              </a:ext>
            </a:extLst>
          </p:cNvPr>
          <p:cNvSpPr txBox="1"/>
          <p:nvPr/>
        </p:nvSpPr>
        <p:spPr>
          <a:xfrm>
            <a:off x="1746133" y="5670620"/>
            <a:ext cx="4439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4" tooltip="http://matemedie.blogspot.com/2014/06/proporzionalita-diretta-ed-inversa.html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5" tooltip="https://creativecommons.org/licenses/by-nc-sa/3.0/"/>
              </a:rPr>
              <a:t>CC BY-SA-NC</a:t>
            </a:r>
            <a:endParaRPr lang="it-IT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1225</Words>
  <Application>Microsoft Office PowerPoint</Application>
  <PresentationFormat>Personalizzato</PresentationFormat>
  <Paragraphs>140</Paragraphs>
  <Slides>18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6" baseType="lpstr">
      <vt:lpstr>Fraunces Extra Bold</vt:lpstr>
      <vt:lpstr>Noto Sans TC</vt:lpstr>
      <vt:lpstr>Calibri</vt:lpstr>
      <vt:lpstr>Consolas</vt:lpstr>
      <vt:lpstr>Century Gothic</vt:lpstr>
      <vt:lpstr>Nobile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PASTORI PAOLA MARIA</cp:lastModifiedBy>
  <cp:revision>10</cp:revision>
  <dcterms:created xsi:type="dcterms:W3CDTF">2025-08-22T12:26:57Z</dcterms:created>
  <dcterms:modified xsi:type="dcterms:W3CDTF">2026-09-13T14:31:23Z</dcterms:modified>
</cp:coreProperties>
</file>