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7" r:id="rId12"/>
    <p:sldId id="265" r:id="rId13"/>
    <p:sldId id="269" r:id="rId14"/>
    <p:sldId id="268" r:id="rId15"/>
  </p:sldIdLst>
  <p:sldSz cx="14630400" cy="8229600"/>
  <p:notesSz cx="8229600" cy="14630400"/>
  <p:embeddedFontLst>
    <p:embeddedFont>
      <p:font typeface="Source Sans 3" panose="020B0604020202020204" charset="0"/>
      <p:regular r:id="rId17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51B2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STORI PAOLA MARIA" userId="8289ebcd-f600-4638-8891-512ebf08a3b4" providerId="ADAL" clId="{206DB62A-6C86-4612-843A-FDBAC0C22639}"/>
    <pc:docChg chg="modSld">
      <pc:chgData name="PASTORI PAOLA MARIA" userId="8289ebcd-f600-4638-8891-512ebf08a3b4" providerId="ADAL" clId="{206DB62A-6C86-4612-843A-FDBAC0C22639}" dt="2026-09-14T17:14:03.699" v="81" actId="255"/>
      <pc:docMkLst>
        <pc:docMk/>
      </pc:docMkLst>
      <pc:sldChg chg="modSp mod">
        <pc:chgData name="PASTORI PAOLA MARIA" userId="8289ebcd-f600-4638-8891-512ebf08a3b4" providerId="ADAL" clId="{206DB62A-6C86-4612-843A-FDBAC0C22639}" dt="2026-09-14T17:14:03.699" v="81" actId="255"/>
        <pc:sldMkLst>
          <pc:docMk/>
          <pc:sldMk cId="0" sldId="263"/>
        </pc:sldMkLst>
        <pc:spChg chg="mod">
          <ac:chgData name="PASTORI PAOLA MARIA" userId="8289ebcd-f600-4638-8891-512ebf08a3b4" providerId="ADAL" clId="{206DB62A-6C86-4612-843A-FDBAC0C22639}" dt="2026-09-14T17:13:44.883" v="80" actId="255"/>
          <ac:spMkLst>
            <pc:docMk/>
            <pc:sldMk cId="0" sldId="263"/>
            <ac:spMk id="3" creationId="{00000000-0000-0000-0000-000000000000}"/>
          </ac:spMkLst>
        </pc:spChg>
        <pc:spChg chg="mod">
          <ac:chgData name="PASTORI PAOLA MARIA" userId="8289ebcd-f600-4638-8891-512ebf08a3b4" providerId="ADAL" clId="{206DB62A-6C86-4612-843A-FDBAC0C22639}" dt="2026-09-14T17:14:03.699" v="81" actId="255"/>
          <ac:spMkLst>
            <pc:docMk/>
            <pc:sldMk cId="0" sldId="263"/>
            <ac:spMk id="5" creationId="{00000000-0000-0000-0000-000000000000}"/>
          </ac:spMkLst>
        </pc:spChg>
        <pc:spChg chg="mod">
          <ac:chgData name="PASTORI PAOLA MARIA" userId="8289ebcd-f600-4638-8891-512ebf08a3b4" providerId="ADAL" clId="{206DB62A-6C86-4612-843A-FDBAC0C22639}" dt="2026-09-14T17:14:03.699" v="81" actId="255"/>
          <ac:spMkLst>
            <pc:docMk/>
            <pc:sldMk cId="0" sldId="263"/>
            <ac:spMk id="6" creationId="{00000000-0000-0000-0000-000000000000}"/>
          </ac:spMkLst>
        </pc:spChg>
        <pc:spChg chg="mod">
          <ac:chgData name="PASTORI PAOLA MARIA" userId="8289ebcd-f600-4638-8891-512ebf08a3b4" providerId="ADAL" clId="{206DB62A-6C86-4612-843A-FDBAC0C22639}" dt="2026-09-14T17:14:03.699" v="81" actId="255"/>
          <ac:spMkLst>
            <pc:docMk/>
            <pc:sldMk cId="0" sldId="263"/>
            <ac:spMk id="7" creationId="{00000000-0000-0000-0000-000000000000}"/>
          </ac:spMkLst>
        </pc:spChg>
        <pc:spChg chg="mod">
          <ac:chgData name="PASTORI PAOLA MARIA" userId="8289ebcd-f600-4638-8891-512ebf08a3b4" providerId="ADAL" clId="{206DB62A-6C86-4612-843A-FDBAC0C22639}" dt="2026-09-14T17:14:03.699" v="81" actId="255"/>
          <ac:spMkLst>
            <pc:docMk/>
            <pc:sldMk cId="0" sldId="263"/>
            <ac:spMk id="8" creationId="{00000000-0000-0000-0000-000000000000}"/>
          </ac:spMkLst>
        </pc:spChg>
        <pc:spChg chg="mod">
          <ac:chgData name="PASTORI PAOLA MARIA" userId="8289ebcd-f600-4638-8891-512ebf08a3b4" providerId="ADAL" clId="{206DB62A-6C86-4612-843A-FDBAC0C22639}" dt="2026-09-14T17:14:03.699" v="81" actId="255"/>
          <ac:spMkLst>
            <pc:docMk/>
            <pc:sldMk cId="0" sldId="263"/>
            <ac:spMk id="9" creationId="{00000000-0000-0000-0000-000000000000}"/>
          </ac:spMkLst>
        </pc:spChg>
        <pc:spChg chg="mod">
          <ac:chgData name="PASTORI PAOLA MARIA" userId="8289ebcd-f600-4638-8891-512ebf08a3b4" providerId="ADAL" clId="{206DB62A-6C86-4612-843A-FDBAC0C22639}" dt="2026-09-14T17:14:03.699" v="81" actId="255"/>
          <ac:spMkLst>
            <pc:docMk/>
            <pc:sldMk cId="0" sldId="263"/>
            <ac:spMk id="10" creationId="{00000000-0000-0000-0000-000000000000}"/>
          </ac:spMkLst>
        </pc:spChg>
        <pc:spChg chg="mod">
          <ac:chgData name="PASTORI PAOLA MARIA" userId="8289ebcd-f600-4638-8891-512ebf08a3b4" providerId="ADAL" clId="{206DB62A-6C86-4612-843A-FDBAC0C22639}" dt="2026-09-14T17:14:03.699" v="81" actId="255"/>
          <ac:spMkLst>
            <pc:docMk/>
            <pc:sldMk cId="0" sldId="263"/>
            <ac:spMk id="11" creationId="{00000000-0000-0000-0000-000000000000}"/>
          </ac:spMkLst>
        </pc:spChg>
        <pc:spChg chg="mod">
          <ac:chgData name="PASTORI PAOLA MARIA" userId="8289ebcd-f600-4638-8891-512ebf08a3b4" providerId="ADAL" clId="{206DB62A-6C86-4612-843A-FDBAC0C22639}" dt="2026-09-14T17:14:03.699" v="81" actId="255"/>
          <ac:spMkLst>
            <pc:docMk/>
            <pc:sldMk cId="0" sldId="263"/>
            <ac:spMk id="12" creationId="{00000000-0000-0000-0000-000000000000}"/>
          </ac:spMkLst>
        </pc:spChg>
        <pc:spChg chg="mod">
          <ac:chgData name="PASTORI PAOLA MARIA" userId="8289ebcd-f600-4638-8891-512ebf08a3b4" providerId="ADAL" clId="{206DB62A-6C86-4612-843A-FDBAC0C22639}" dt="2026-09-14T17:14:03.699" v="81" actId="255"/>
          <ac:spMkLst>
            <pc:docMk/>
            <pc:sldMk cId="0" sldId="263"/>
            <ac:spMk id="13" creationId="{00000000-0000-0000-0000-000000000000}"/>
          </ac:spMkLst>
        </pc:spChg>
      </pc:sldChg>
      <pc:sldChg chg="modSp mod">
        <pc:chgData name="PASTORI PAOLA MARIA" userId="8289ebcd-f600-4638-8891-512ebf08a3b4" providerId="ADAL" clId="{206DB62A-6C86-4612-843A-FDBAC0C22639}" dt="2026-09-14T17:12:07.050" v="78" actId="20577"/>
        <pc:sldMkLst>
          <pc:docMk/>
          <pc:sldMk cId="2867638706" sldId="266"/>
        </pc:sldMkLst>
        <pc:spChg chg="mod">
          <ac:chgData name="PASTORI PAOLA MARIA" userId="8289ebcd-f600-4638-8891-512ebf08a3b4" providerId="ADAL" clId="{206DB62A-6C86-4612-843A-FDBAC0C22639}" dt="2026-09-14T17:12:07.050" v="78" actId="20577"/>
          <ac:spMkLst>
            <pc:docMk/>
            <pc:sldMk cId="2867638706" sldId="266"/>
            <ac:spMk id="15" creationId="{64B1AE23-3FDA-EC00-D17E-436F8337946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687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3869B-073E-9850-89B6-ADAC64F08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A2991-E69D-4324-099E-3165584E2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F3869-E5D3-19C6-3654-D7066B6B0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4AF7C-D420-2622-E547-7BA0476DB8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64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44122-5697-4DDE-8C67-085A6C5A8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E1FCD2-C1AA-ACFA-76E0-A055C1303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BCE4AE-4DAA-5A4B-AFD4-AA890C6D84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41600-427F-0F09-8936-63740841CE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25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A5512-EB97-ABBB-E32D-495CCD8FD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1D028B-BE24-8D85-18A9-72375B108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04101-3EBD-C010-C60A-EF14DEE5D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45341-5AC2-B522-6F25-F41D65F25A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62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youtube.com/watch?v=5VJr8o8-10c" TargetMode="Externa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creativecommons.org/licenses/by-sa/3.0/" TargetMode="External"/><Relationship Id="rId5" Type="http://schemas.openxmlformats.org/officeDocument/2006/relationships/hyperlink" Target="https://it.qaz.wiki/wiki/Public-key_cryptography" TargetMode="Externa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creativecommons.org/licenses/by-sa/3.0/" TargetMode="External"/><Relationship Id="rId5" Type="http://schemas.openxmlformats.org/officeDocument/2006/relationships/hyperlink" Target="https://it.qaz.wiki/wiki/Public-key_cryptography" TargetMode="Externa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creativecommons.org/licenses/by-sa/3.0/" TargetMode="External"/><Relationship Id="rId5" Type="http://schemas.openxmlformats.org/officeDocument/2006/relationships/hyperlink" Target="https://it.qaz.wiki/wiki/Public-key_cryptography" TargetMode="Externa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317313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E851B2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CRITTOGRAFIA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24124" y="3247311"/>
            <a:ext cx="7468553" cy="2094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250"/>
              </a:lnSpc>
              <a:buNone/>
            </a:pPr>
            <a:r>
              <a:rPr lang="en-US" sz="20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scienza che protegge i nostri dati in un mondo digitale sempre più interconnesso. </a:t>
            </a:r>
            <a:r>
              <a:rPr lang="en-US" sz="2050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Vengono</a:t>
            </a:r>
            <a:r>
              <a:rPr lang="en-US" sz="20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2050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esplorati</a:t>
            </a:r>
            <a:r>
              <a:rPr lang="en-US" sz="20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2050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</a:t>
            </a:r>
            <a:r>
              <a:rPr lang="en-US" sz="20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principi fondamentali della crittografia, la sua importanza nella sicurezza informatica e le tecniche principali utilizzate per garantire la riservatezza, l'integrità e la disponibilità delle informazioni.</a:t>
            </a:r>
            <a:endParaRPr lang="en-US" sz="2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62896"/>
            <a:ext cx="855547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E851B2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È IMPORTANTE CHE I DATI SIANO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837724" y="2297668"/>
            <a:ext cx="4178618" cy="2542937"/>
          </a:xfrm>
          <a:prstGeom prst="roundRect">
            <a:avLst>
              <a:gd name="adj" fmla="val 3459"/>
            </a:avLst>
          </a:prstGeom>
          <a:solidFill>
            <a:srgbClr val="FFB6B3"/>
          </a:solidFill>
          <a:ln w="7620">
            <a:solidFill>
              <a:srgbClr val="E59C9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1054775" y="251471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Sempre disponibili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54775" y="2948345"/>
            <a:ext cx="3744516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 dati devono essere accessibili in qualsiasi momento agli utenti autorizzati, garantendo la continuità operativa e l'accesso tempestivo alle informazioni necessarie.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25772" y="2297668"/>
            <a:ext cx="4178737" cy="2542937"/>
          </a:xfrm>
          <a:prstGeom prst="roundRect">
            <a:avLst>
              <a:gd name="adj" fmla="val 3459"/>
            </a:avLst>
          </a:prstGeom>
          <a:solidFill>
            <a:srgbClr val="FF80BA"/>
          </a:solidFill>
          <a:ln w="7620">
            <a:solidFill>
              <a:srgbClr val="E566A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442823" y="251471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Riservati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42823" y="2948345"/>
            <a:ext cx="3744635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Chi è autorizzato ad usarli deve avere la certezza che non siano divulgati a terze parti non autorizzate, mantenendo così la confidenzialità delle informazioni sensibili.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13940" y="2297668"/>
            <a:ext cx="4178737" cy="2542937"/>
          </a:xfrm>
          <a:prstGeom prst="roundRect">
            <a:avLst>
              <a:gd name="adj" fmla="val 3459"/>
            </a:avLst>
          </a:prstGeom>
          <a:solidFill>
            <a:srgbClr val="FFE1F7"/>
          </a:solidFill>
          <a:ln w="7620">
            <a:solidFill>
              <a:srgbClr val="E5C7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830991" y="251471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Integri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830991" y="2948345"/>
            <a:ext cx="3744635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 dati non devono subire modifiche non autorizzate, garantendo che le informazioni rimangano accurate, complete e affidabili durante tutto il loro ciclo di vita.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5194" y="5154692"/>
            <a:ext cx="11519892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100" dirty="0">
                <a:solidFill>
                  <a:srgbClr val="E851B2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Quando si parla di sicurezza occorre parlare di crittografia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837724" y="5961459"/>
            <a:ext cx="12954952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crittografia rappresenta uno dei pilastri fondamentali della sicurezza informatica moderna. È la tecnologia che permette di proteggere i dati sensibili, garantire comunicazioni sicure e verificare l'identità degli utenti nei sistemi digitali. Senza la crittografia, la sicurezza delle nostre informazioni digitali sarebbe gravemente compromessa.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43283"/>
            <a:ext cx="3523059" cy="43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E851B2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Cos'è la Crittografia?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37724" y="1332482"/>
            <a:ext cx="7629882" cy="703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parola crittografia deriva dall'unione di due parole greche </a:t>
            </a:r>
            <a:r>
              <a:rPr lang="en-US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kryptósv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che significa </a:t>
            </a:r>
            <a:r>
              <a:rPr lang="en-US" i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nascosto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 </a:t>
            </a:r>
            <a:r>
              <a:rPr lang="en-US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graphía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che significa </a:t>
            </a:r>
            <a:r>
              <a:rPr lang="en-US" i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scrittura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La crittografia è la scienza che si occupa di proteggere delle informazioni rendendole incomprensibili a chi le dovesse intercettare, in modo che possano essere lette e capite solo dal destinatario.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20366" y="2753427"/>
            <a:ext cx="7629882" cy="23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Terminologia fondamentale: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7724" y="3064073"/>
            <a:ext cx="7629882" cy="23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Testo in chiaro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il messaggio originale da proteggere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7724" y="3349823"/>
            <a:ext cx="7629882" cy="23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b="1" dirty="0">
                <a:solidFill>
                  <a:srgbClr val="432338"/>
                </a:solidFill>
                <a:latin typeface="Source Sans 3" pitchFamily="34" charset="0"/>
              </a:rPr>
              <a:t>Testo</a:t>
            </a:r>
            <a:r>
              <a:rPr lang="en-US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cifrato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il messaggio trasformato in modo da essere incomprensibile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7724" y="3635573"/>
            <a:ext cx="7629882" cy="23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b="1" dirty="0" err="1">
                <a:solidFill>
                  <a:srgbClr val="432338"/>
                </a:solidFill>
                <a:latin typeface="Source Sans 3" pitchFamily="34" charset="0"/>
              </a:rPr>
              <a:t>Cifratura</a:t>
            </a:r>
            <a:r>
              <a:rPr lang="en-US" b="1" dirty="0">
                <a:solidFill>
                  <a:srgbClr val="432338"/>
                </a:solidFill>
                <a:latin typeface="Source Sans 3" pitchFamily="34" charset="0"/>
              </a:rPr>
              <a:t>: la trasformazione da testo in chiaro a testo </a:t>
            </a:r>
            <a:r>
              <a:rPr lang="en-US" b="1" dirty="0" err="1">
                <a:solidFill>
                  <a:srgbClr val="432338"/>
                </a:solidFill>
                <a:latin typeface="Source Sans 3" pitchFamily="34" charset="0"/>
              </a:rPr>
              <a:t>cifrato</a:t>
            </a:r>
            <a:endParaRPr lang="en-US" b="1" dirty="0">
              <a:solidFill>
                <a:srgbClr val="432338"/>
              </a:solidFill>
              <a:latin typeface="Source Sans 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37724" y="3921323"/>
            <a:ext cx="7629882" cy="23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b="1" dirty="0" err="1">
                <a:solidFill>
                  <a:srgbClr val="432338"/>
                </a:solidFill>
                <a:latin typeface="Source Sans 3" pitchFamily="34" charset="0"/>
              </a:rPr>
              <a:t>Decifratura</a:t>
            </a:r>
            <a:r>
              <a:rPr lang="en-US" b="1" dirty="0">
                <a:solidFill>
                  <a:srgbClr val="432338"/>
                </a:solidFill>
                <a:latin typeface="Source Sans 3" pitchFamily="34" charset="0"/>
              </a:rPr>
              <a:t>: la trasformazione inversa da testo cifrato a testo in </a:t>
            </a:r>
            <a:r>
              <a:rPr lang="en-US" b="1" dirty="0" err="1">
                <a:solidFill>
                  <a:srgbClr val="432338"/>
                </a:solidFill>
                <a:latin typeface="Source Sans 3" pitchFamily="34" charset="0"/>
              </a:rPr>
              <a:t>chiaro</a:t>
            </a:r>
            <a:endParaRPr lang="en-US" b="1" dirty="0">
              <a:solidFill>
                <a:srgbClr val="432338"/>
              </a:solidFill>
              <a:latin typeface="Source Sans 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37724" y="4207073"/>
            <a:ext cx="7629882" cy="23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b="1" dirty="0">
                <a:solidFill>
                  <a:srgbClr val="432338"/>
                </a:solidFill>
                <a:latin typeface="Source Sans 3" pitchFamily="34" charset="0"/>
              </a:rPr>
              <a:t>Algoritmo di </a:t>
            </a:r>
            <a:r>
              <a:rPr lang="en-US" b="1" dirty="0" err="1">
                <a:solidFill>
                  <a:srgbClr val="432338"/>
                </a:solidFill>
                <a:latin typeface="Source Sans 3" pitchFamily="34" charset="0"/>
              </a:rPr>
              <a:t>cifratura</a:t>
            </a:r>
            <a:r>
              <a:rPr lang="en-US" b="1" dirty="0">
                <a:solidFill>
                  <a:srgbClr val="432338"/>
                </a:solidFill>
                <a:latin typeface="Source Sans 3" pitchFamily="34" charset="0"/>
              </a:rPr>
              <a:t>: la trasformazione crittografica che specifica la procedura di </a:t>
            </a:r>
            <a:r>
              <a:rPr lang="en-US" b="1" dirty="0" err="1">
                <a:solidFill>
                  <a:srgbClr val="432338"/>
                </a:solidFill>
                <a:latin typeface="Source Sans 3" pitchFamily="34" charset="0"/>
              </a:rPr>
              <a:t>conversione</a:t>
            </a:r>
            <a:endParaRPr lang="en-US" b="1" dirty="0">
              <a:solidFill>
                <a:srgbClr val="432338"/>
              </a:solidFill>
              <a:latin typeface="Source Sans 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37724" y="4845224"/>
            <a:ext cx="7629882" cy="46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b="1" dirty="0">
                <a:solidFill>
                  <a:srgbClr val="432338"/>
                </a:solidFill>
                <a:latin typeface="Source Sans 3" pitchFamily="34" charset="0"/>
              </a:rPr>
              <a:t>La crittografia è attualmente molto importante, in quanto ci consente di rendere sicure le nostre comunicazioni (mail criptate), i </a:t>
            </a:r>
            <a:r>
              <a:rPr lang="en-US" b="1" dirty="0" err="1">
                <a:solidFill>
                  <a:srgbClr val="432338"/>
                </a:solidFill>
                <a:latin typeface="Source Sans 3" pitchFamily="34" charset="0"/>
              </a:rPr>
              <a:t>nostri</a:t>
            </a:r>
            <a:r>
              <a:rPr lang="en-US" b="1" dirty="0">
                <a:solidFill>
                  <a:srgbClr val="432338"/>
                </a:solidFill>
                <a:latin typeface="Source Sans 3" pitchFamily="34" charset="0"/>
              </a:rPr>
              <a:t> </a:t>
            </a:r>
            <a:r>
              <a:rPr lang="en-US" b="1" dirty="0" err="1">
                <a:solidFill>
                  <a:srgbClr val="432338"/>
                </a:solidFill>
                <a:latin typeface="Source Sans 3" pitchFamily="34" charset="0"/>
              </a:rPr>
              <a:t>dati</a:t>
            </a:r>
            <a:r>
              <a:rPr lang="en-US" b="1" dirty="0">
                <a:solidFill>
                  <a:srgbClr val="432338"/>
                </a:solidFill>
                <a:latin typeface="Source Sans 3" pitchFamily="34" charset="0"/>
              </a:rPr>
              <a:t> (database criptati) e i nostri riconoscimenti (firma </a:t>
            </a:r>
            <a:r>
              <a:rPr lang="en-US" b="1" dirty="0" err="1">
                <a:solidFill>
                  <a:srgbClr val="432338"/>
                </a:solidFill>
                <a:latin typeface="Source Sans 3" pitchFamily="34" charset="0"/>
              </a:rPr>
              <a:t>digitale</a:t>
            </a:r>
            <a:r>
              <a:rPr lang="en-US" b="1" dirty="0">
                <a:solidFill>
                  <a:srgbClr val="432338"/>
                </a:solidFill>
                <a:latin typeface="Source Sans 3" pitchFamily="34" charset="0"/>
              </a:rPr>
              <a:t>).</a:t>
            </a: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2890" y="1895475"/>
            <a:ext cx="2286000" cy="2286000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2822" y="4402642"/>
            <a:ext cx="733068" cy="8796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263892" y="4468065"/>
            <a:ext cx="1724858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Testo in chiaro</a:t>
            </a:r>
            <a:endParaRPr lang="en-US" sz="13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2822" y="5226010"/>
            <a:ext cx="733068" cy="8796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256461" y="5330495"/>
            <a:ext cx="1724858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Algoritmo + Chiave</a:t>
            </a:r>
            <a:endParaRPr lang="en-US" sz="13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2822" y="6071440"/>
            <a:ext cx="733068" cy="87963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263892" y="6252210"/>
            <a:ext cx="1724858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Testo cifrato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47581"/>
            <a:ext cx="6807875" cy="462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E851B2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Evoluzione della Sicurezza nella Rete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837724" y="1423749"/>
            <a:ext cx="12954952" cy="502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Inizialmente, quando è nata la rete internet, non si è avvertita la necessità di proteggere i dati, di avere cioè un sistema sicuro, perché non si prevedeva uno sviluppo così rapido ed immediato delle rete.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724" y="2161818"/>
            <a:ext cx="8963025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La sicurezza della rete deve soddisfare i seguenti tre requisiti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837724" y="2767132"/>
            <a:ext cx="4213622" cy="1689854"/>
          </a:xfrm>
          <a:prstGeom prst="roundRect">
            <a:avLst>
              <a:gd name="adj" fmla="val 649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FF80B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14864" y="2767132"/>
            <a:ext cx="91440" cy="1689854"/>
          </a:xfrm>
          <a:prstGeom prst="roundRect">
            <a:avLst>
              <a:gd name="adj" fmla="val 72156"/>
            </a:avLst>
          </a:prstGeom>
          <a:solidFill>
            <a:srgbClr val="FF80B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086207" y="2947035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Disponibilità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86207" y="3272195"/>
            <a:ext cx="3785235" cy="75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 risorse devono essere sempre disponibili a tutti coloro </a:t>
            </a:r>
            <a:r>
              <a:rPr lang="en-US" sz="12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CHE SONO AUTORIZZATI</a:t>
            </a: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ad utilizzarle, garantendo che i servizi essenziali siano accessibili quando necessario.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08389" y="2767132"/>
            <a:ext cx="4213622" cy="1689854"/>
          </a:xfrm>
          <a:prstGeom prst="roundRect">
            <a:avLst>
              <a:gd name="adj" fmla="val 649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FFB6B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5185529" y="2767132"/>
            <a:ext cx="91440" cy="1689854"/>
          </a:xfrm>
          <a:prstGeom prst="roundRect">
            <a:avLst>
              <a:gd name="adj" fmla="val 72156"/>
            </a:avLst>
          </a:prstGeom>
          <a:solidFill>
            <a:srgbClr val="FFB6B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456873" y="2947035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Riservatezza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56873" y="3272195"/>
            <a:ext cx="3785235" cy="1004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Occorre garantire la riservatezza, cioè non deve essere possibile che persone non autorizzate accedano ai dati altrui, proteggendo così le informazioni sensibili da occhi indiscreti.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579054" y="2767132"/>
            <a:ext cx="4213622" cy="1689854"/>
          </a:xfrm>
          <a:prstGeom prst="roundRect">
            <a:avLst>
              <a:gd name="adj" fmla="val 649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FFE1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9556194" y="2767132"/>
            <a:ext cx="91440" cy="1689854"/>
          </a:xfrm>
          <a:prstGeom prst="roundRect">
            <a:avLst>
              <a:gd name="adj" fmla="val 72156"/>
            </a:avLst>
          </a:prstGeom>
          <a:solidFill>
            <a:srgbClr val="FFE1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9827538" y="2947035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Integrità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827538" y="3272195"/>
            <a:ext cx="3785235" cy="753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Occorre garantire </a:t>
            </a:r>
            <a:r>
              <a:rPr lang="en-US" sz="12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l'integrità dei dati</a:t>
            </a: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cioè nessuno può appropriarsi dei propri dati personali (password, informazioni private) o modificarli senza autorizzazione.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7724" y="4692610"/>
            <a:ext cx="6144816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E851B2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Come è possibile proteggere i propri dati?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37724" y="5454968"/>
            <a:ext cx="1925003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Tecniche di cifratura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7724" y="5842992"/>
            <a:ext cx="6285905" cy="502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Algoritmi matematici che rendono i dati illeggibili a chi non possiede la chiave appropriata per decifrarli.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14392" y="5454968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Firewall e VPN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514392" y="5842992"/>
            <a:ext cx="6285905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Sistemi di filtraggio e tunnel crittografati che proteggono la comunicazione da intercettazioni.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7724" y="6663452"/>
            <a:ext cx="12954952" cy="918448"/>
          </a:xfrm>
          <a:prstGeom prst="roundRect">
            <a:avLst>
              <a:gd name="adj" fmla="val 7184"/>
            </a:avLst>
          </a:prstGeom>
          <a:solidFill>
            <a:srgbClr val="F6BBE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767" y="6889790"/>
            <a:ext cx="196334" cy="157043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348145" y="6859667"/>
            <a:ext cx="12287488" cy="502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Nota importante:</a:t>
            </a: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Ricordarsi la differenza che sussiste tra HTTP e HTTPS. HTTPS utilizza il protocollo SSL/TLS per cifrare la comunicazione tra browser e server, garantendo sicurezza e protezione dei dati trasmessi.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728" y="467916"/>
            <a:ext cx="2920127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E851B2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Comunicazione Sicura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28" y="1288070"/>
            <a:ext cx="10517924" cy="5082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646" y="5605939"/>
            <a:ext cx="13411026" cy="21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79728" y="5906810"/>
            <a:ext cx="13270944" cy="176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57890" y="4388466"/>
            <a:ext cx="2944416" cy="36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62" y="136208"/>
            <a:ext cx="9135189" cy="38103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9977" y="5564743"/>
            <a:ext cx="2104073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400" dirty="0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CC360983-DABE-E73F-12F2-D0641D15D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361" y="4146827"/>
            <a:ext cx="8303062" cy="39465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1BFEB-905A-FE48-25CF-52B9B1966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56450E-045B-1550-AA92-42A6E33B6E2F}"/>
              </a:ext>
            </a:extLst>
          </p:cNvPr>
          <p:cNvSpPr/>
          <p:nvPr/>
        </p:nvSpPr>
        <p:spPr>
          <a:xfrm>
            <a:off x="5597536" y="442460"/>
            <a:ext cx="2944416" cy="36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800" b="1" dirty="0">
                <a:solidFill>
                  <a:srgbClr val="E851B2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Tipi di </a:t>
            </a:r>
            <a:r>
              <a:rPr lang="en-US" sz="2800" b="1" dirty="0" err="1">
                <a:solidFill>
                  <a:srgbClr val="E851B2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Crittografia</a:t>
            </a:r>
            <a:endParaRPr lang="en-US" sz="2800" b="1" dirty="0">
              <a:solidFill>
                <a:srgbClr val="E851B2"/>
              </a:solidFill>
              <a:latin typeface="Noto Serif HK Semi Bold" pitchFamily="34" charset="0"/>
              <a:ea typeface="Noto Serif HK Semi Bold" pitchFamily="34" charset="-122"/>
              <a:cs typeface="Noto Serif HK Semi Bold" pitchFamily="34" charset="-120"/>
            </a:endParaRPr>
          </a:p>
          <a:p>
            <a:pPr marL="0" indent="0" algn="ctr">
              <a:lnSpc>
                <a:spcPts val="2850"/>
              </a:lnSpc>
              <a:buNone/>
            </a:pPr>
            <a:endParaRPr lang="en-US" sz="2400" b="1" dirty="0">
              <a:solidFill>
                <a:srgbClr val="E851B2"/>
              </a:solidFill>
              <a:latin typeface="Noto Serif HK Semi Bold" pitchFamily="34" charset="0"/>
              <a:ea typeface="Noto Serif HK Semi Bold" pitchFamily="34" charset="-122"/>
              <a:cs typeface="Noto Serif HK Semi Bold" pitchFamily="34" charset="-120"/>
            </a:endParaRPr>
          </a:p>
          <a:p>
            <a:pPr marL="0" indent="0" algn="ctr">
              <a:lnSpc>
                <a:spcPts val="2850"/>
              </a:lnSpc>
              <a:buNone/>
            </a:pPr>
            <a:endParaRPr lang="en-US" sz="2400" b="1" dirty="0">
              <a:solidFill>
                <a:srgbClr val="E851B2"/>
              </a:solidFill>
              <a:latin typeface="Noto Serif HK Semi Bold" pitchFamily="34" charset="0"/>
              <a:ea typeface="Noto Serif HK Semi Bold" pitchFamily="34" charset="-122"/>
              <a:cs typeface="Noto Serif HK Semi Bold" pitchFamily="34" charset="-120"/>
            </a:endParaRPr>
          </a:p>
          <a:p>
            <a:pPr marL="0" indent="0" algn="ctr">
              <a:lnSpc>
                <a:spcPts val="2850"/>
              </a:lnSpc>
              <a:buNone/>
            </a:pPr>
            <a:endParaRPr lang="en-US" sz="2400" b="1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8ECD58C-DBE5-D9D1-C9CB-235A584C5F6F}"/>
              </a:ext>
            </a:extLst>
          </p:cNvPr>
          <p:cNvSpPr/>
          <p:nvPr/>
        </p:nvSpPr>
        <p:spPr>
          <a:xfrm>
            <a:off x="1926631" y="1206875"/>
            <a:ext cx="2729451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400" b="1" dirty="0">
                <a:solidFill>
                  <a:srgbClr val="FF80BA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Crittografia Simmetrica</a:t>
            </a:r>
            <a:endParaRPr lang="en-US" sz="2400" b="1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FA25343-0477-5FE2-0BC2-659E698C8F2E}"/>
              </a:ext>
            </a:extLst>
          </p:cNvPr>
          <p:cNvSpPr/>
          <p:nvPr/>
        </p:nvSpPr>
        <p:spPr>
          <a:xfrm>
            <a:off x="834570" y="2294522"/>
            <a:ext cx="6392585" cy="40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Utilizza la stessa chiave sia per cifrare che per decifrare i dati. È veloce ed efficiente, ma presenta la sfida della distribuzione sicura della chiave tra le parti comunicanti.</a:t>
            </a:r>
            <a:endParaRPr lang="en-US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3BF226D-F69B-988F-95CD-B3C5EEB694DE}"/>
              </a:ext>
            </a:extLst>
          </p:cNvPr>
          <p:cNvSpPr/>
          <p:nvPr/>
        </p:nvSpPr>
        <p:spPr>
          <a:xfrm>
            <a:off x="906784" y="3257173"/>
            <a:ext cx="6392585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Esempi: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AES, DES, 3DES, Blowfish</a:t>
            </a:r>
            <a:endParaRPr 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F67A16C-19D9-2486-A94E-59CD83CB5210}"/>
              </a:ext>
            </a:extLst>
          </p:cNvPr>
          <p:cNvSpPr/>
          <p:nvPr/>
        </p:nvSpPr>
        <p:spPr>
          <a:xfrm>
            <a:off x="906784" y="3569831"/>
            <a:ext cx="6392585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Vantaggi: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Velocità di elaborazione, semplicità d'implementazione</a:t>
            </a:r>
            <a:endParaRPr lang="en-US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319937C-6A90-571B-36AE-401F1753B35C}"/>
              </a:ext>
            </a:extLst>
          </p:cNvPr>
          <p:cNvSpPr/>
          <p:nvPr/>
        </p:nvSpPr>
        <p:spPr>
          <a:xfrm>
            <a:off x="906784" y="3882489"/>
            <a:ext cx="6392585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Svantaggi: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Problema dello scambio sicuro della chiave</a:t>
            </a:r>
            <a:endParaRPr lang="en-US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F7522C8-2AA8-DCFE-E2B4-8411282661FF}"/>
              </a:ext>
            </a:extLst>
          </p:cNvPr>
          <p:cNvSpPr/>
          <p:nvPr/>
        </p:nvSpPr>
        <p:spPr>
          <a:xfrm>
            <a:off x="8809583" y="1200143"/>
            <a:ext cx="2216587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400" b="1" dirty="0">
                <a:solidFill>
                  <a:srgbClr val="E851B2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Crittografia Asimmetrica</a:t>
            </a:r>
            <a:endParaRPr lang="en-US" sz="2400" b="1" dirty="0">
              <a:solidFill>
                <a:srgbClr val="E851B2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5F00654-4710-E567-22C5-AEC4834D7439}"/>
              </a:ext>
            </a:extLst>
          </p:cNvPr>
          <p:cNvSpPr/>
          <p:nvPr/>
        </p:nvSpPr>
        <p:spPr>
          <a:xfrm>
            <a:off x="7387413" y="2294522"/>
            <a:ext cx="6392585" cy="40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dirty="0">
                <a:solidFill>
                  <a:srgbClr val="432338"/>
                </a:solidFill>
                <a:latin typeface="Source Sans 3" pitchFamily="34" charset="0"/>
              </a:rPr>
              <a:t>Utilizza una coppia di chiavi (pubblica e privata) matematicamente correlate. Ciò che viene cifrato con una chiave può essere decifrato solo con l'altra </a:t>
            </a:r>
            <a:r>
              <a:rPr lang="en-US" dirty="0" err="1">
                <a:solidFill>
                  <a:srgbClr val="432338"/>
                </a:solidFill>
                <a:latin typeface="Source Sans 3" pitchFamily="34" charset="0"/>
              </a:rPr>
              <a:t>corrispondente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</a:rPr>
              <a:t>.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A1CAE1B-48A5-096F-D07E-7721343F204A}"/>
              </a:ext>
            </a:extLst>
          </p:cNvPr>
          <p:cNvSpPr/>
          <p:nvPr/>
        </p:nvSpPr>
        <p:spPr>
          <a:xfrm>
            <a:off x="7387413" y="3250239"/>
            <a:ext cx="6392585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b="1" dirty="0" err="1">
                <a:solidFill>
                  <a:srgbClr val="432338"/>
                </a:solidFill>
                <a:latin typeface="Source Sans 3" pitchFamily="34" charset="0"/>
              </a:rPr>
              <a:t>Esempi</a:t>
            </a:r>
            <a:r>
              <a:rPr lang="en-US" b="1" dirty="0">
                <a:solidFill>
                  <a:srgbClr val="432338"/>
                </a:solidFill>
                <a:latin typeface="Source Sans 3" pitchFamily="34" charset="0"/>
              </a:rPr>
              <a:t>: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</a:rPr>
              <a:t> RSA, DSA, ECC, ElGamal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97D038C-C024-F765-B38C-D4042783E587}"/>
              </a:ext>
            </a:extLst>
          </p:cNvPr>
          <p:cNvSpPr/>
          <p:nvPr/>
        </p:nvSpPr>
        <p:spPr>
          <a:xfrm>
            <a:off x="7299369" y="3600722"/>
            <a:ext cx="6392585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b="1" dirty="0">
                <a:solidFill>
                  <a:srgbClr val="432338"/>
                </a:solidFill>
                <a:latin typeface="Source Sans 3" pitchFamily="34" charset="0"/>
              </a:rPr>
              <a:t>Vantaggi</a:t>
            </a:r>
            <a:r>
              <a:rPr lang="en-US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Risolve il 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</a:rPr>
              <a:t>problema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della distribuzione delle chiavi, </a:t>
            </a:r>
            <a:r>
              <a:rPr lang="en-US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permette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la</a:t>
            </a:r>
          </a:p>
          <a:p>
            <a:pPr marL="0" indent="0" algn="l">
              <a:lnSpc>
                <a:spcPts val="1550"/>
              </a:lnSpc>
              <a:buNone/>
            </a:pP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</a:p>
          <a:p>
            <a:pPr marL="0" indent="0" algn="l">
              <a:lnSpc>
                <a:spcPts val="1550"/>
              </a:lnSpc>
              <a:buNone/>
            </a:pPr>
            <a:r>
              <a:rPr lang="en-US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firma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digitale</a:t>
            </a:r>
            <a:endParaRPr lang="en-US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08608B8-0A03-DAE8-118E-80C6679A9FB9}"/>
              </a:ext>
            </a:extLst>
          </p:cNvPr>
          <p:cNvSpPr/>
          <p:nvPr/>
        </p:nvSpPr>
        <p:spPr>
          <a:xfrm>
            <a:off x="7299368" y="4324721"/>
            <a:ext cx="6392585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b="1" dirty="0">
                <a:solidFill>
                  <a:srgbClr val="432338"/>
                </a:solidFill>
                <a:latin typeface="Source Sans 3" pitchFamily="34" charset="0"/>
              </a:rPr>
              <a:t>Svantaggi</a:t>
            </a:r>
            <a:r>
              <a:rPr lang="en-US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</a:rPr>
              <a:t>Computazionalmente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più intensiva, più lenta della simmetrica</a:t>
            </a:r>
            <a:endParaRPr lang="en-US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4B1AE23-3FDA-EC00-D17E-436F8337946B}"/>
              </a:ext>
            </a:extLst>
          </p:cNvPr>
          <p:cNvSpPr/>
          <p:nvPr/>
        </p:nvSpPr>
        <p:spPr>
          <a:xfrm>
            <a:off x="329784" y="4766953"/>
            <a:ext cx="12760662" cy="21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Nella pratica, spesso si utilizzano sistemi ibridi che combinano i vantaggi di entrambi gli approcci: la crittografia asimmetrica per lo scambio sicuro </a:t>
            </a:r>
            <a:r>
              <a:rPr lang="en-US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della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</a:p>
          <a:p>
            <a:pPr marL="0" indent="0" algn="l">
              <a:lnSpc>
                <a:spcPts val="1550"/>
              </a:lnSpc>
              <a:buNone/>
            </a:pPr>
            <a:endParaRPr lang="en-US" dirty="0">
              <a:solidFill>
                <a:srgbClr val="432338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chiave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 quella simmetrica per la comunicazione dei dati </a:t>
            </a:r>
            <a:r>
              <a:rPr lang="en-US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effettivi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.(</a:t>
            </a:r>
            <a:r>
              <a:rPr lang="en-US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esempio:connessione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ad un </a:t>
            </a:r>
            <a:r>
              <a:rPr lang="en-US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sito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web con la </a:t>
            </a:r>
            <a:r>
              <a:rPr lang="en-US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gestione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della </a:t>
            </a:r>
            <a:r>
              <a:rPr lang="en-US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chiave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 </a:t>
            </a:r>
            <a:r>
              <a:rPr lang="en-US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sessione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638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684885" y="1420510"/>
            <a:ext cx="1755934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Processo di Cifratura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684885" y="1748289"/>
            <a:ext cx="6440686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 mittente ottiene la chiave pubblica del destinatario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84885" y="1979389"/>
            <a:ext cx="6440686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Font typeface="+mj-lt"/>
              <a:buAutoNum type="arabicPeriod" startAt="2"/>
            </a:pP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 mittente utilizza questa chiave pubblica per cifrare il messaggio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684885" y="2210489"/>
            <a:ext cx="6440686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Font typeface="+mj-lt"/>
              <a:buAutoNum type="arabicPeriod" startAt="3"/>
            </a:pP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 messaggio cifrato viene inviato attraverso la rete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684885" y="2441590"/>
            <a:ext cx="6440686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Font typeface="+mj-lt"/>
              <a:buAutoNum type="arabicPeriod" startAt="4"/>
            </a:pP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Solo il possessore della chiave privata corrispondente (il destinatario) potrà decifrare il messaggio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84885" y="4074791"/>
            <a:ext cx="1799749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Applicazioni Pratiche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684885" y="4402570"/>
            <a:ext cx="6440686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Firma digitale: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Garantisce autenticità e non ripudio dei documenti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684885" y="4633670"/>
            <a:ext cx="6440686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Certificati digitali: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Collegano le chiavi pubbliche all'identità del proprietario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84885" y="4864770"/>
            <a:ext cx="6440686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SSL/TLS: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Protocolli per comunicazioni sicure su Internet (HTTPS)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684885" y="5095871"/>
            <a:ext cx="6440686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PGP/GPG: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Protezione di email e file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684885" y="5326971"/>
            <a:ext cx="6440686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Bitcoin e blockchain:</a:t>
            </a:r>
            <a:r>
              <a:rPr lang="en-US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Utilizzano crittografia asimmetrica per sicurezza e autenticazione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729853" y="7225903"/>
            <a:ext cx="13170694" cy="503873"/>
          </a:xfrm>
          <a:prstGeom prst="roundRect">
            <a:avLst>
              <a:gd name="adj" fmla="val 9887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39" y="7399853"/>
            <a:ext cx="148233" cy="11858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15258" y="7374136"/>
            <a:ext cx="12666702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sicurezza di questi sistemi dipende dalla segretezza della chiave privata. Se questa viene compromessa, tutta la sicurezza del sistema crolla!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81764"/>
            <a:ext cx="3478887" cy="400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E851B2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CIFRARIO DI CESARE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73812" y="1403151"/>
            <a:ext cx="7640003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 Cifrario di Cesare è uno dei più antichi e semplici algoritmi di </a:t>
            </a:r>
            <a:r>
              <a:rPr lang="en-US" sz="1600" b="1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crittografia</a:t>
            </a:r>
            <a:r>
              <a:rPr lang="en-US" sz="16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00" b="1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simmetrica</a:t>
            </a:r>
            <a:r>
              <a:rPr lang="en-US" sz="16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risalente all'Impero Romano. È un esempio classico di cifrario a sostituzione monoalfabetica in cui ogni lettera del testo in chiaro viene sostituita da un'altra lettera, in base ad uno spostamento predefinito nell'alfabeto.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7724" y="2297906"/>
            <a:ext cx="1922026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Come funziona: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37724" y="2674144"/>
            <a:ext cx="7640003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 sceglie un numero (la chiave) che rappresenta di quante posizioni spostare ogni lettera nell'alfabeto. Ad esempio, con una chiave 3: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37724" y="3014305"/>
            <a:ext cx="7640003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diventa D (spostamento di 3 posizioni)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7724" y="3279577"/>
            <a:ext cx="7640003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 diventa 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7724" y="3544848"/>
            <a:ext cx="7640003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 diventa 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7724" y="3810119"/>
            <a:ext cx="7640003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... e così via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7724" y="4150281"/>
            <a:ext cx="7640003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Esempio:</a:t>
            </a: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La </a:t>
            </a:r>
            <a:r>
              <a:rPr lang="en-US" sz="1400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parola</a:t>
            </a: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“ADA" con spostamento uguale a 3 </a:t>
            </a:r>
            <a:r>
              <a:rPr lang="en-US" sz="1400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diventa</a:t>
            </a: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“DGD"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7724" y="4490442"/>
            <a:ext cx="7640003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→ D (spostamento di 3 posizioni)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7724" y="4830604"/>
            <a:ext cx="7640003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D→ G (spostamento di 3 posizioni)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7724" y="5170765"/>
            <a:ext cx="7640003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→ D (spostamento di 3 posizioni)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817531" y="3978593"/>
            <a:ext cx="4982647" cy="1013460"/>
          </a:xfrm>
          <a:prstGeom prst="roundRect">
            <a:avLst>
              <a:gd name="adj" fmla="val 5642"/>
            </a:avLst>
          </a:prstGeom>
          <a:solidFill>
            <a:srgbClr val="F6BBE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619" y="4174212"/>
            <a:ext cx="170140" cy="1360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259848" y="4148614"/>
            <a:ext cx="4404241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 Cifrario di Cesare è un esempio di cifratura a </a:t>
            </a:r>
            <a:r>
              <a:rPr lang="en-US" sz="1050" dirty="0">
                <a:solidFill>
                  <a:srgbClr val="E851B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chiave simmetrica</a:t>
            </a: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dove la stessa chiave (il valore dello spostamento) viene utilizzata sia per cifrare che per decifrare.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817531" y="5145167"/>
            <a:ext cx="4982647" cy="43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Nonostante la sua semplicità, il Cifrario di Cesare è fondamentale per comprendere i principi base della crittografia e introduce concetti come: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8817531" y="5702975"/>
            <a:ext cx="4982647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Sostituzione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817531" y="5968246"/>
            <a:ext cx="4982647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Chiave di cifratura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817531" y="6233517"/>
            <a:ext cx="4982647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Algoritmo reversibile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37724" y="6651903"/>
            <a:ext cx="12954952" cy="795814"/>
          </a:xfrm>
          <a:prstGeom prst="roundRect">
            <a:avLst>
              <a:gd name="adj" fmla="val 7185"/>
            </a:avLst>
          </a:prstGeom>
          <a:solidFill>
            <a:srgbClr val="FFB3B4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12" y="6847523"/>
            <a:ext cx="170140" cy="1360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80041" y="6821924"/>
            <a:ext cx="12376547" cy="43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 Cifrario di Cesare è estremamente vulnerabile alle tecniche moderne di crittanalisi e può essere facilmente forzato provando tutti i possibili 25 spostamenti. È utilizzato solo a scopo didattico e non per applicazioni di sicurezza reali.</a:t>
            </a:r>
            <a:endParaRPr lang="en-US" sz="1050" dirty="0"/>
          </a:p>
        </p:txBody>
      </p:sp>
      <p:pic>
        <p:nvPicPr>
          <p:cNvPr id="26" name="Immagine 25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DDCC4402-125D-2634-D5AA-111CC60E48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022854" y="284869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671" y="644962"/>
            <a:ext cx="5597604" cy="379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E851B2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CIFRATURA A CHIAVE SIMMETRICA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793671" y="1333619"/>
            <a:ext cx="7700010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 parla di cifratura quando si lavora sulle singole lettere, di codifica quando si agisce sulla parola intera. La crittografia a chiave simmetrica è un metodo in cui </a:t>
            </a:r>
            <a:r>
              <a:rPr lang="en-US" sz="10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 mittente ed il destinatario utilizzano LA STESSA CHIAVE per cifrare e decifrare il messaggio, LA QUALE VIENE TRASMESSA ATTRAVERSO UN CANALE SICURO</a:t>
            </a: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3671" y="2081212"/>
            <a:ext cx="3638550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Tabella di </a:t>
            </a:r>
            <a:r>
              <a:rPr lang="en-US" sz="1000" dirty="0">
                <a:solidFill>
                  <a:srgbClr val="432338"/>
                </a:solidFill>
                <a:latin typeface="Source Sans 3" pitchFamily="34" charset="0"/>
              </a:rPr>
              <a:t>conversione</a:t>
            </a:r>
            <a:r>
              <a:rPr lang="en-US" sz="14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 alfabeto-numeri: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3671" y="2453759"/>
            <a:ext cx="7700010" cy="767239"/>
          </a:xfrm>
          <a:prstGeom prst="roundRect">
            <a:avLst>
              <a:gd name="adj" fmla="val 706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930235" y="2435841"/>
            <a:ext cx="7707630" cy="39362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it-IT" sz="2800" dirty="0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7" name="Text 5"/>
          <p:cNvSpPr/>
          <p:nvPr/>
        </p:nvSpPr>
        <p:spPr>
          <a:xfrm>
            <a:off x="930712" y="2546271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</a:t>
            </a:r>
            <a:endParaRPr lang="en-US" sz="1400" b="1" dirty="0"/>
          </a:p>
        </p:txBody>
      </p:sp>
      <p:sp>
        <p:nvSpPr>
          <p:cNvPr id="8" name="Text 6"/>
          <p:cNvSpPr/>
          <p:nvPr/>
        </p:nvSpPr>
        <p:spPr>
          <a:xfrm>
            <a:off x="1702951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</a:t>
            </a:r>
            <a:endParaRPr lang="en-US" sz="1400" b="1" dirty="0"/>
          </a:p>
        </p:txBody>
      </p:sp>
      <p:sp>
        <p:nvSpPr>
          <p:cNvPr id="9" name="Text 7"/>
          <p:cNvSpPr/>
          <p:nvPr/>
        </p:nvSpPr>
        <p:spPr>
          <a:xfrm>
            <a:off x="2471380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</a:t>
            </a:r>
            <a:endParaRPr lang="en-US" sz="1400" b="1" dirty="0"/>
          </a:p>
        </p:txBody>
      </p:sp>
      <p:sp>
        <p:nvSpPr>
          <p:cNvPr id="10" name="Text 8"/>
          <p:cNvSpPr/>
          <p:nvPr/>
        </p:nvSpPr>
        <p:spPr>
          <a:xfrm>
            <a:off x="3239810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</a:t>
            </a:r>
            <a:endParaRPr lang="en-US" sz="1400" b="1" dirty="0"/>
          </a:p>
        </p:txBody>
      </p:sp>
      <p:sp>
        <p:nvSpPr>
          <p:cNvPr id="11" name="Text 9"/>
          <p:cNvSpPr/>
          <p:nvPr/>
        </p:nvSpPr>
        <p:spPr>
          <a:xfrm>
            <a:off x="4008239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</a:t>
            </a:r>
            <a:endParaRPr lang="en-US" sz="1400" b="1" dirty="0"/>
          </a:p>
        </p:txBody>
      </p:sp>
      <p:sp>
        <p:nvSpPr>
          <p:cNvPr id="12" name="Text 10"/>
          <p:cNvSpPr/>
          <p:nvPr/>
        </p:nvSpPr>
        <p:spPr>
          <a:xfrm>
            <a:off x="4776668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</a:t>
            </a:r>
            <a:endParaRPr lang="en-US" sz="1400" b="1" dirty="0"/>
          </a:p>
        </p:txBody>
      </p:sp>
      <p:sp>
        <p:nvSpPr>
          <p:cNvPr id="13" name="Text 11"/>
          <p:cNvSpPr/>
          <p:nvPr/>
        </p:nvSpPr>
        <p:spPr>
          <a:xfrm>
            <a:off x="5545098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</a:t>
            </a:r>
            <a:endParaRPr lang="en-US" sz="1400" b="1" dirty="0"/>
          </a:p>
        </p:txBody>
      </p:sp>
      <p:sp>
        <p:nvSpPr>
          <p:cNvPr id="14" name="Text 12"/>
          <p:cNvSpPr/>
          <p:nvPr/>
        </p:nvSpPr>
        <p:spPr>
          <a:xfrm>
            <a:off x="6313527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81957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</a:t>
            </a:r>
            <a:endParaRPr lang="en-US" sz="1400" b="1" dirty="0"/>
          </a:p>
        </p:txBody>
      </p:sp>
      <p:sp>
        <p:nvSpPr>
          <p:cNvPr id="16" name="Text 14"/>
          <p:cNvSpPr/>
          <p:nvPr/>
        </p:nvSpPr>
        <p:spPr>
          <a:xfrm>
            <a:off x="7850386" y="2546271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</a:t>
            </a:r>
            <a:endParaRPr lang="en-US" sz="1400" b="1" dirty="0"/>
          </a:p>
        </p:txBody>
      </p:sp>
      <p:sp>
        <p:nvSpPr>
          <p:cNvPr id="17" name="Shape 15"/>
          <p:cNvSpPr/>
          <p:nvPr/>
        </p:nvSpPr>
        <p:spPr>
          <a:xfrm>
            <a:off x="801291" y="2837378"/>
            <a:ext cx="7684770" cy="37599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930712" y="2922270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02951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71380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39810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08239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76668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45098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13527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81957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50386" y="2922270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3671" y="3366016"/>
            <a:ext cx="7700010" cy="767239"/>
          </a:xfrm>
          <a:prstGeom prst="roundRect">
            <a:avLst>
              <a:gd name="adj" fmla="val 706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801291" y="3373636"/>
            <a:ext cx="7684770" cy="375999"/>
          </a:xfrm>
          <a:prstGeom prst="rect">
            <a:avLst/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998756" y="3458528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</a:t>
            </a:r>
            <a:endParaRPr lang="en-US" sz="1400" b="1" dirty="0"/>
          </a:p>
        </p:txBody>
      </p:sp>
      <p:sp>
        <p:nvSpPr>
          <p:cNvPr id="31" name="Text 29"/>
          <p:cNvSpPr/>
          <p:nvPr/>
        </p:nvSpPr>
        <p:spPr>
          <a:xfrm>
            <a:off x="1702951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</a:t>
            </a:r>
            <a:endParaRPr lang="en-US" sz="1400" b="1" dirty="0"/>
          </a:p>
        </p:txBody>
      </p:sp>
      <p:sp>
        <p:nvSpPr>
          <p:cNvPr id="32" name="Text 30"/>
          <p:cNvSpPr/>
          <p:nvPr/>
        </p:nvSpPr>
        <p:spPr>
          <a:xfrm>
            <a:off x="2471380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</a:t>
            </a:r>
            <a:endParaRPr lang="en-US" sz="1400" b="1" dirty="0"/>
          </a:p>
        </p:txBody>
      </p:sp>
      <p:sp>
        <p:nvSpPr>
          <p:cNvPr id="33" name="Text 31"/>
          <p:cNvSpPr/>
          <p:nvPr/>
        </p:nvSpPr>
        <p:spPr>
          <a:xfrm>
            <a:off x="3239810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</a:t>
            </a:r>
            <a:endParaRPr lang="en-US" sz="1400" b="1" dirty="0"/>
          </a:p>
        </p:txBody>
      </p:sp>
      <p:sp>
        <p:nvSpPr>
          <p:cNvPr id="34" name="Text 32"/>
          <p:cNvSpPr/>
          <p:nvPr/>
        </p:nvSpPr>
        <p:spPr>
          <a:xfrm>
            <a:off x="4008239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</a:t>
            </a:r>
            <a:endParaRPr lang="en-US" sz="1400" b="1" dirty="0"/>
          </a:p>
        </p:txBody>
      </p:sp>
      <p:sp>
        <p:nvSpPr>
          <p:cNvPr id="35" name="Text 33"/>
          <p:cNvSpPr/>
          <p:nvPr/>
        </p:nvSpPr>
        <p:spPr>
          <a:xfrm>
            <a:off x="4776668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</a:t>
            </a:r>
            <a:endParaRPr lang="en-US" sz="1400" b="1" dirty="0"/>
          </a:p>
        </p:txBody>
      </p:sp>
      <p:sp>
        <p:nvSpPr>
          <p:cNvPr id="36" name="Text 34"/>
          <p:cNvSpPr/>
          <p:nvPr/>
        </p:nvSpPr>
        <p:spPr>
          <a:xfrm>
            <a:off x="5545098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</a:t>
            </a:r>
            <a:endParaRPr lang="en-US" sz="1400" b="1" dirty="0"/>
          </a:p>
        </p:txBody>
      </p:sp>
      <p:sp>
        <p:nvSpPr>
          <p:cNvPr id="37" name="Text 35"/>
          <p:cNvSpPr/>
          <p:nvPr/>
        </p:nvSpPr>
        <p:spPr>
          <a:xfrm>
            <a:off x="6313527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</a:t>
            </a:r>
            <a:endParaRPr lang="en-US" sz="1400" b="1" dirty="0"/>
          </a:p>
        </p:txBody>
      </p:sp>
      <p:sp>
        <p:nvSpPr>
          <p:cNvPr id="38" name="Text 36"/>
          <p:cNvSpPr/>
          <p:nvPr/>
        </p:nvSpPr>
        <p:spPr>
          <a:xfrm>
            <a:off x="7081957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</a:t>
            </a:r>
            <a:endParaRPr lang="en-US" sz="1400" b="1" dirty="0"/>
          </a:p>
        </p:txBody>
      </p:sp>
      <p:sp>
        <p:nvSpPr>
          <p:cNvPr id="39" name="Text 37"/>
          <p:cNvSpPr/>
          <p:nvPr/>
        </p:nvSpPr>
        <p:spPr>
          <a:xfrm>
            <a:off x="7850386" y="3458528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</a:t>
            </a:r>
            <a:endParaRPr lang="en-US" sz="1400" b="1" dirty="0"/>
          </a:p>
        </p:txBody>
      </p:sp>
      <p:sp>
        <p:nvSpPr>
          <p:cNvPr id="40" name="Shape 38"/>
          <p:cNvSpPr/>
          <p:nvPr/>
        </p:nvSpPr>
        <p:spPr>
          <a:xfrm>
            <a:off x="801291" y="3749635"/>
            <a:ext cx="7684770" cy="37599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930712" y="3834527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702951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471380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39810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008239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76668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45098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13527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081957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850386" y="3834527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19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93671" y="4278273"/>
            <a:ext cx="7700010" cy="767239"/>
          </a:xfrm>
          <a:prstGeom prst="roundRect">
            <a:avLst>
              <a:gd name="adj" fmla="val 706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Shape 50"/>
          <p:cNvSpPr/>
          <p:nvPr/>
        </p:nvSpPr>
        <p:spPr>
          <a:xfrm>
            <a:off x="801291" y="4285893"/>
            <a:ext cx="7684770" cy="37599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930235" y="4370784"/>
            <a:ext cx="7426881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01291" y="4661892"/>
            <a:ext cx="7684770" cy="37599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5" name="Text 53"/>
          <p:cNvSpPr/>
          <p:nvPr/>
        </p:nvSpPr>
        <p:spPr>
          <a:xfrm>
            <a:off x="930235" y="4746784"/>
            <a:ext cx="7426881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93671" y="5190530"/>
            <a:ext cx="770001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Esempio: Se K (la chiave) è 4, </a:t>
            </a: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ciò significa che mi sposto di 4 posizioni</a:t>
            </a: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nell'alfabeto per cifrare ogni lettera.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93671" y="5512713"/>
            <a:ext cx="770001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Cifrando la parola "</a:t>
            </a:r>
            <a:r>
              <a:rPr lang="en-US" sz="1400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cado</a:t>
            </a: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 con chiave K=4: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793671" y="5834896"/>
            <a:ext cx="770001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 (2) → g (6) [2+4=6]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793671" y="6086237"/>
            <a:ext cx="770001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(0) → e (4) [0+4=4]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793671" y="6337578"/>
            <a:ext cx="770001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 (3) → h (7) [3+4=7]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93671" y="6588919"/>
            <a:ext cx="770001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(12) → s (16) [12+4=16]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793671" y="6911102"/>
            <a:ext cx="770001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Quindi "</a:t>
            </a:r>
            <a:r>
              <a:rPr lang="en-US" sz="1400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cado</a:t>
            </a: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 diventa "</a:t>
            </a:r>
            <a:r>
              <a:rPr lang="en-US" sz="1400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gehs</a:t>
            </a: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</a:t>
            </a:r>
            <a:endParaRPr lang="en-US" sz="1400" dirty="0"/>
          </a:p>
        </p:txBody>
      </p:sp>
      <p:sp>
        <p:nvSpPr>
          <p:cNvPr id="64" name="Text 61"/>
          <p:cNvSpPr/>
          <p:nvPr/>
        </p:nvSpPr>
        <p:spPr>
          <a:xfrm>
            <a:off x="8815864" y="3793688"/>
            <a:ext cx="2362200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Caratteristiche principali:</a:t>
            </a:r>
            <a:endParaRPr lang="en-US" sz="1400" dirty="0"/>
          </a:p>
        </p:txBody>
      </p:sp>
      <p:sp>
        <p:nvSpPr>
          <p:cNvPr id="65" name="Text 62"/>
          <p:cNvSpPr/>
          <p:nvPr/>
        </p:nvSpPr>
        <p:spPr>
          <a:xfrm>
            <a:off x="8815864" y="4150162"/>
            <a:ext cx="5028486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Utilizzo della stessa chiave per cifrare e decifrare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8815864" y="4401503"/>
            <a:ext cx="5028486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Processo computazionalmente efficiente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8815864" y="4652843"/>
            <a:ext cx="5028486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Adatto per grandi volumi di dati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8815864" y="4904184"/>
            <a:ext cx="5028486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Richiede un canale sicuro per lo scambio della chiave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815864" y="5255419"/>
            <a:ext cx="5028486" cy="960120"/>
          </a:xfrm>
          <a:prstGeom prst="roundRect">
            <a:avLst>
              <a:gd name="adj" fmla="val 5642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808" y="5440799"/>
            <a:ext cx="161211" cy="128945"/>
          </a:xfrm>
          <a:prstGeom prst="rect">
            <a:avLst/>
          </a:prstGeom>
        </p:spPr>
      </p:pic>
      <p:sp>
        <p:nvSpPr>
          <p:cNvPr id="71" name="Text 67"/>
          <p:cNvSpPr/>
          <p:nvPr/>
        </p:nvSpPr>
        <p:spPr>
          <a:xfrm>
            <a:off x="9234964" y="5416510"/>
            <a:ext cx="4480441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 problema principale della crittografia simmetrica è la distribuzione sicura della chiave: come può il mittente condividere la chiave con il destinatario senza che questa venga intercettata?</a:t>
            </a:r>
            <a:endParaRPr lang="en-US" sz="1000" dirty="0"/>
          </a:p>
        </p:txBody>
      </p:sp>
      <p:sp>
        <p:nvSpPr>
          <p:cNvPr id="72" name="Text 68"/>
          <p:cNvSpPr/>
          <p:nvPr/>
        </p:nvSpPr>
        <p:spPr>
          <a:xfrm>
            <a:off x="793671" y="7378303"/>
            <a:ext cx="13043059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Algoritmi moderni di cifratura simmetrica includono AES (Advanced Encryption Standard), DES (Data Encryption Standard), 3DES (Triple DES) e Blowfish, che sono molto più complessi e sicuri del semplice spostamento alfabetico illustrato sopra.</a:t>
            </a:r>
            <a:endParaRPr lang="en-US" sz="1400" dirty="0"/>
          </a:p>
        </p:txBody>
      </p:sp>
      <p:pic>
        <p:nvPicPr>
          <p:cNvPr id="74" name="Immagine 73" descr="Immagine che contiene schermata, testo, Carattere&#10;&#10;Il contenuto generato dall'IA potrebbe non essere corretto.">
            <a:extLst>
              <a:ext uri="{FF2B5EF4-FFF2-40B4-BE49-F238E27FC236}">
                <a16:creationId xmlns:a16="http://schemas.microsoft.com/office/drawing/2014/main" id="{AC94A040-B9AB-5EE8-D5F1-385F74361C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777770" y="971372"/>
            <a:ext cx="2381250" cy="2333625"/>
          </a:xfrm>
          <a:prstGeom prst="rect">
            <a:avLst/>
          </a:prstGeom>
        </p:spPr>
      </p:pic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406F8AAA-F4CE-A394-FA6C-1A2FCF39FF3A}"/>
              </a:ext>
            </a:extLst>
          </p:cNvPr>
          <p:cNvSpPr txBox="1"/>
          <p:nvPr/>
        </p:nvSpPr>
        <p:spPr>
          <a:xfrm>
            <a:off x="9777770" y="3304997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>
                <a:hlinkClick r:id="rId5" tooltip="https://it.qaz.wiki/wiki/Public-key_cryptography"/>
              </a:rPr>
              <a:t>Questa foto</a:t>
            </a:r>
            <a:r>
              <a:rPr lang="it-IT" sz="900"/>
              <a:t> di Autore sconosciuto è concesso in licenza da </a:t>
            </a:r>
            <a:r>
              <a:rPr lang="it-IT" sz="900">
                <a:hlinkClick r:id="rId6" tooltip="https://creativecommons.org/licenses/by-sa/3.0/"/>
              </a:rPr>
              <a:t>CC BY-SA</a:t>
            </a:r>
            <a:endParaRPr lang="it-IT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8A4BB-D63B-3139-36FA-EA6098E47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5F1E76A-C6A2-4776-51F3-642E9DD2035E}"/>
              </a:ext>
            </a:extLst>
          </p:cNvPr>
          <p:cNvSpPr/>
          <p:nvPr/>
        </p:nvSpPr>
        <p:spPr>
          <a:xfrm>
            <a:off x="793671" y="644962"/>
            <a:ext cx="5597604" cy="379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E851B2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DECODIFICA CIFRATURA A CHIAVE SIMMETRICA</a:t>
            </a:r>
            <a:endParaRPr lang="en-US" sz="23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2E9E81B-85E3-7320-8E6E-15697DE434AD}"/>
              </a:ext>
            </a:extLst>
          </p:cNvPr>
          <p:cNvSpPr/>
          <p:nvPr/>
        </p:nvSpPr>
        <p:spPr>
          <a:xfrm>
            <a:off x="793671" y="2453759"/>
            <a:ext cx="7700010" cy="767239"/>
          </a:xfrm>
          <a:prstGeom prst="roundRect">
            <a:avLst>
              <a:gd name="adj" fmla="val 706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C307948-CBB3-EA60-DB65-0A1BC73836EE}"/>
              </a:ext>
            </a:extLst>
          </p:cNvPr>
          <p:cNvSpPr/>
          <p:nvPr/>
        </p:nvSpPr>
        <p:spPr>
          <a:xfrm>
            <a:off x="851653" y="2470309"/>
            <a:ext cx="7707630" cy="39362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it-IT" sz="2800" dirty="0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DFAA738-0CA7-2951-DA83-F7AFE98D948D}"/>
              </a:ext>
            </a:extLst>
          </p:cNvPr>
          <p:cNvSpPr/>
          <p:nvPr/>
        </p:nvSpPr>
        <p:spPr>
          <a:xfrm>
            <a:off x="930712" y="2546271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</a:t>
            </a:r>
            <a:endParaRPr lang="en-US" sz="1400" b="1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0139962-C02C-7CB4-EDE7-B60D7588326D}"/>
              </a:ext>
            </a:extLst>
          </p:cNvPr>
          <p:cNvSpPr/>
          <p:nvPr/>
        </p:nvSpPr>
        <p:spPr>
          <a:xfrm>
            <a:off x="1702951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</a:t>
            </a:r>
            <a:endParaRPr lang="en-US" sz="1400" b="1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E6AEDD6-D2D9-9235-B2A2-E249CA2D1B9D}"/>
              </a:ext>
            </a:extLst>
          </p:cNvPr>
          <p:cNvSpPr/>
          <p:nvPr/>
        </p:nvSpPr>
        <p:spPr>
          <a:xfrm>
            <a:off x="2471380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</a:t>
            </a:r>
            <a:endParaRPr lang="en-US" sz="1400" b="1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ADD34CE-306A-6DA5-56FD-1A4FEAC19B86}"/>
              </a:ext>
            </a:extLst>
          </p:cNvPr>
          <p:cNvSpPr/>
          <p:nvPr/>
        </p:nvSpPr>
        <p:spPr>
          <a:xfrm>
            <a:off x="3239810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</a:t>
            </a:r>
            <a:endParaRPr lang="en-US" sz="1400" b="1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826B7E-F4EE-B90D-D8DD-BA7295AA4D6E}"/>
              </a:ext>
            </a:extLst>
          </p:cNvPr>
          <p:cNvSpPr/>
          <p:nvPr/>
        </p:nvSpPr>
        <p:spPr>
          <a:xfrm>
            <a:off x="4008239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</a:t>
            </a:r>
            <a:endParaRPr lang="en-US" sz="1400" b="1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88A0ACF-756B-3908-EAAC-2AA7C2A1437B}"/>
              </a:ext>
            </a:extLst>
          </p:cNvPr>
          <p:cNvSpPr/>
          <p:nvPr/>
        </p:nvSpPr>
        <p:spPr>
          <a:xfrm>
            <a:off x="4776668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</a:t>
            </a:r>
            <a:endParaRPr lang="en-US" sz="1400" b="1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E24B144-0FA6-90D2-BB20-78B046B53E27}"/>
              </a:ext>
            </a:extLst>
          </p:cNvPr>
          <p:cNvSpPr/>
          <p:nvPr/>
        </p:nvSpPr>
        <p:spPr>
          <a:xfrm>
            <a:off x="5545098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</a:t>
            </a:r>
            <a:endParaRPr lang="en-US" sz="1400" b="1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8AD3975-192D-01AC-6426-2D644801352A}"/>
              </a:ext>
            </a:extLst>
          </p:cNvPr>
          <p:cNvSpPr/>
          <p:nvPr/>
        </p:nvSpPr>
        <p:spPr>
          <a:xfrm>
            <a:off x="6313527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DD4B8A8-FCE8-4F71-7187-2AE1E93D3437}"/>
              </a:ext>
            </a:extLst>
          </p:cNvPr>
          <p:cNvSpPr/>
          <p:nvPr/>
        </p:nvSpPr>
        <p:spPr>
          <a:xfrm>
            <a:off x="7081957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</a:t>
            </a:r>
            <a:endParaRPr lang="en-US" sz="1400" b="1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1A01F09-A5A2-65A9-44A5-BEC71638DBB2}"/>
              </a:ext>
            </a:extLst>
          </p:cNvPr>
          <p:cNvSpPr/>
          <p:nvPr/>
        </p:nvSpPr>
        <p:spPr>
          <a:xfrm>
            <a:off x="7850386" y="2546271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</a:t>
            </a:r>
            <a:endParaRPr lang="en-US" sz="1400" b="1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EDEAF2B-8E9D-DB29-365C-AE74A3B1D288}"/>
              </a:ext>
            </a:extLst>
          </p:cNvPr>
          <p:cNvSpPr/>
          <p:nvPr/>
        </p:nvSpPr>
        <p:spPr>
          <a:xfrm>
            <a:off x="801291" y="2837378"/>
            <a:ext cx="7684770" cy="37599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E77C58B-BC87-F9EB-BEC7-D87F535F7E4A}"/>
              </a:ext>
            </a:extLst>
          </p:cNvPr>
          <p:cNvSpPr/>
          <p:nvPr/>
        </p:nvSpPr>
        <p:spPr>
          <a:xfrm>
            <a:off x="930712" y="2922270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9BF1EB3-B3FC-91DA-159C-234C7F392A0A}"/>
              </a:ext>
            </a:extLst>
          </p:cNvPr>
          <p:cNvSpPr/>
          <p:nvPr/>
        </p:nvSpPr>
        <p:spPr>
          <a:xfrm>
            <a:off x="1702951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FD9B1E2-1A2F-7B21-BFB1-1E0F6092E6AB}"/>
              </a:ext>
            </a:extLst>
          </p:cNvPr>
          <p:cNvSpPr/>
          <p:nvPr/>
        </p:nvSpPr>
        <p:spPr>
          <a:xfrm>
            <a:off x="2471380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FA80F59-02B6-8214-1FFE-46346413043B}"/>
              </a:ext>
            </a:extLst>
          </p:cNvPr>
          <p:cNvSpPr/>
          <p:nvPr/>
        </p:nvSpPr>
        <p:spPr>
          <a:xfrm>
            <a:off x="3239810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7C49ED4-738F-3BA2-7B49-4F2CEF3069D9}"/>
              </a:ext>
            </a:extLst>
          </p:cNvPr>
          <p:cNvSpPr/>
          <p:nvPr/>
        </p:nvSpPr>
        <p:spPr>
          <a:xfrm>
            <a:off x="4008239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1C87E9A-78B0-D293-8B68-6DA588D9053E}"/>
              </a:ext>
            </a:extLst>
          </p:cNvPr>
          <p:cNvSpPr/>
          <p:nvPr/>
        </p:nvSpPr>
        <p:spPr>
          <a:xfrm>
            <a:off x="4776668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1A6EFB0-27A8-5B22-AEF2-A06E89C9079B}"/>
              </a:ext>
            </a:extLst>
          </p:cNvPr>
          <p:cNvSpPr/>
          <p:nvPr/>
        </p:nvSpPr>
        <p:spPr>
          <a:xfrm>
            <a:off x="5545098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9228FDB-70A8-9A94-DD32-B66120607464}"/>
              </a:ext>
            </a:extLst>
          </p:cNvPr>
          <p:cNvSpPr/>
          <p:nvPr/>
        </p:nvSpPr>
        <p:spPr>
          <a:xfrm>
            <a:off x="6313527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BECCE09-E540-4D8A-8FB9-7F9A183509AD}"/>
              </a:ext>
            </a:extLst>
          </p:cNvPr>
          <p:cNvSpPr/>
          <p:nvPr/>
        </p:nvSpPr>
        <p:spPr>
          <a:xfrm>
            <a:off x="7081957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04815E8-FE7A-0CBB-EFAB-68AFB7CCCBCC}"/>
              </a:ext>
            </a:extLst>
          </p:cNvPr>
          <p:cNvSpPr/>
          <p:nvPr/>
        </p:nvSpPr>
        <p:spPr>
          <a:xfrm>
            <a:off x="7850386" y="2922270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</a:t>
            </a:r>
            <a:endParaRPr lang="en-US" sz="1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B45E9EE-9072-1932-3AE1-0F6B60BF4205}"/>
              </a:ext>
            </a:extLst>
          </p:cNvPr>
          <p:cNvSpPr/>
          <p:nvPr/>
        </p:nvSpPr>
        <p:spPr>
          <a:xfrm>
            <a:off x="793671" y="3366016"/>
            <a:ext cx="7700010" cy="767239"/>
          </a:xfrm>
          <a:prstGeom prst="roundRect">
            <a:avLst>
              <a:gd name="adj" fmla="val 706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04BA4B2-D7EA-97C7-98B5-1CD636276172}"/>
              </a:ext>
            </a:extLst>
          </p:cNvPr>
          <p:cNvSpPr/>
          <p:nvPr/>
        </p:nvSpPr>
        <p:spPr>
          <a:xfrm>
            <a:off x="801291" y="3373636"/>
            <a:ext cx="7684770" cy="375999"/>
          </a:xfrm>
          <a:prstGeom prst="rect">
            <a:avLst/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25F7621-45BE-7E60-F22D-AF97E1A3AC14}"/>
              </a:ext>
            </a:extLst>
          </p:cNvPr>
          <p:cNvSpPr/>
          <p:nvPr/>
        </p:nvSpPr>
        <p:spPr>
          <a:xfrm>
            <a:off x="998756" y="3458528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</a:t>
            </a:r>
            <a:endParaRPr lang="en-US" sz="1400" b="1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8B339FE-F2A6-C7BD-D622-AAA425221581}"/>
              </a:ext>
            </a:extLst>
          </p:cNvPr>
          <p:cNvSpPr/>
          <p:nvPr/>
        </p:nvSpPr>
        <p:spPr>
          <a:xfrm>
            <a:off x="1702951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</a:t>
            </a:r>
            <a:endParaRPr lang="en-US" sz="1400" b="1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091EDFE-832B-3384-45DC-26B2E836CB12}"/>
              </a:ext>
            </a:extLst>
          </p:cNvPr>
          <p:cNvSpPr/>
          <p:nvPr/>
        </p:nvSpPr>
        <p:spPr>
          <a:xfrm>
            <a:off x="2471380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</a:t>
            </a:r>
            <a:endParaRPr lang="en-US" sz="1400" b="1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A8FE1977-9018-AB52-9EAE-1DAAFDDB34C4}"/>
              </a:ext>
            </a:extLst>
          </p:cNvPr>
          <p:cNvSpPr/>
          <p:nvPr/>
        </p:nvSpPr>
        <p:spPr>
          <a:xfrm>
            <a:off x="3239810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</a:t>
            </a:r>
            <a:endParaRPr lang="en-US" sz="1400" b="1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D4A868E-7DE2-C26E-596E-A57F87EA46CA}"/>
              </a:ext>
            </a:extLst>
          </p:cNvPr>
          <p:cNvSpPr/>
          <p:nvPr/>
        </p:nvSpPr>
        <p:spPr>
          <a:xfrm>
            <a:off x="4008239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</a:t>
            </a:r>
            <a:endParaRPr lang="en-US" sz="1400" b="1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7053F9D-DCC3-B016-74F5-EF179A1C0485}"/>
              </a:ext>
            </a:extLst>
          </p:cNvPr>
          <p:cNvSpPr/>
          <p:nvPr/>
        </p:nvSpPr>
        <p:spPr>
          <a:xfrm>
            <a:off x="4776668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</a:t>
            </a:r>
            <a:endParaRPr lang="en-US" sz="1400" b="1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488AA5CE-2C5E-A402-A7B5-9D7FE228F1A0}"/>
              </a:ext>
            </a:extLst>
          </p:cNvPr>
          <p:cNvSpPr/>
          <p:nvPr/>
        </p:nvSpPr>
        <p:spPr>
          <a:xfrm>
            <a:off x="5545098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</a:t>
            </a:r>
            <a:endParaRPr lang="en-US" sz="1400" b="1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600D8293-C6F0-359B-E424-287584274E05}"/>
              </a:ext>
            </a:extLst>
          </p:cNvPr>
          <p:cNvSpPr/>
          <p:nvPr/>
        </p:nvSpPr>
        <p:spPr>
          <a:xfrm>
            <a:off x="6313527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</a:t>
            </a:r>
            <a:endParaRPr lang="en-US" sz="1400" b="1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F50ADD1A-608D-47AF-0553-8972D14DF62E}"/>
              </a:ext>
            </a:extLst>
          </p:cNvPr>
          <p:cNvSpPr/>
          <p:nvPr/>
        </p:nvSpPr>
        <p:spPr>
          <a:xfrm>
            <a:off x="7081957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</a:t>
            </a:r>
            <a:endParaRPr lang="en-US" sz="1400" b="1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DF3E3C2-688F-2963-9341-2AED97AEC8B0}"/>
              </a:ext>
            </a:extLst>
          </p:cNvPr>
          <p:cNvSpPr/>
          <p:nvPr/>
        </p:nvSpPr>
        <p:spPr>
          <a:xfrm>
            <a:off x="7850386" y="3458528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</a:t>
            </a:r>
            <a:endParaRPr lang="en-US" sz="1400" b="1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6E8FFFED-9635-4E3E-CE9F-2F6D76F8FBFF}"/>
              </a:ext>
            </a:extLst>
          </p:cNvPr>
          <p:cNvSpPr/>
          <p:nvPr/>
        </p:nvSpPr>
        <p:spPr>
          <a:xfrm>
            <a:off x="801291" y="3749635"/>
            <a:ext cx="7684770" cy="37599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E2300F70-A2C3-369E-51C6-D65E47EE297A}"/>
              </a:ext>
            </a:extLst>
          </p:cNvPr>
          <p:cNvSpPr/>
          <p:nvPr/>
        </p:nvSpPr>
        <p:spPr>
          <a:xfrm>
            <a:off x="930712" y="3834527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</a:t>
            </a:r>
            <a:endParaRPr lang="en-US" sz="10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F3166DA0-EA40-ACE3-AE25-C9506C5973FA}"/>
              </a:ext>
            </a:extLst>
          </p:cNvPr>
          <p:cNvSpPr/>
          <p:nvPr/>
        </p:nvSpPr>
        <p:spPr>
          <a:xfrm>
            <a:off x="1702951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11</a:t>
            </a:r>
            <a:endParaRPr lang="en-US" sz="10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0DADD2E8-646B-275F-4496-2F2B507E5488}"/>
              </a:ext>
            </a:extLst>
          </p:cNvPr>
          <p:cNvSpPr/>
          <p:nvPr/>
        </p:nvSpPr>
        <p:spPr>
          <a:xfrm>
            <a:off x="2471380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</a:t>
            </a:r>
            <a:endParaRPr lang="en-US" sz="1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18ABB98F-D1F0-014D-0702-1D0846B789F1}"/>
              </a:ext>
            </a:extLst>
          </p:cNvPr>
          <p:cNvSpPr/>
          <p:nvPr/>
        </p:nvSpPr>
        <p:spPr>
          <a:xfrm>
            <a:off x="3239810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13</a:t>
            </a:r>
            <a:endParaRPr lang="en-US" sz="10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695705C1-694A-96A0-D70D-D073CACE97DD}"/>
              </a:ext>
            </a:extLst>
          </p:cNvPr>
          <p:cNvSpPr/>
          <p:nvPr/>
        </p:nvSpPr>
        <p:spPr>
          <a:xfrm>
            <a:off x="4008239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14</a:t>
            </a:r>
            <a:endParaRPr lang="en-US" sz="10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E453F5F3-2308-0CBA-02BB-2EAF156806D8}"/>
              </a:ext>
            </a:extLst>
          </p:cNvPr>
          <p:cNvSpPr/>
          <p:nvPr/>
        </p:nvSpPr>
        <p:spPr>
          <a:xfrm>
            <a:off x="4776668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15</a:t>
            </a:r>
            <a:endParaRPr lang="en-US" sz="10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69255C49-11AF-B6B5-FBBE-EC4470E69685}"/>
              </a:ext>
            </a:extLst>
          </p:cNvPr>
          <p:cNvSpPr/>
          <p:nvPr/>
        </p:nvSpPr>
        <p:spPr>
          <a:xfrm>
            <a:off x="5545098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16</a:t>
            </a:r>
            <a:endParaRPr lang="en-US" sz="10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0B88C3EB-AE26-60C3-43EC-29D385B97C70}"/>
              </a:ext>
            </a:extLst>
          </p:cNvPr>
          <p:cNvSpPr/>
          <p:nvPr/>
        </p:nvSpPr>
        <p:spPr>
          <a:xfrm>
            <a:off x="6313527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17</a:t>
            </a:r>
            <a:endParaRPr lang="en-US" sz="10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17EC7F88-0B2A-A5B7-2E49-DF1BD1DCF931}"/>
              </a:ext>
            </a:extLst>
          </p:cNvPr>
          <p:cNvSpPr/>
          <p:nvPr/>
        </p:nvSpPr>
        <p:spPr>
          <a:xfrm>
            <a:off x="7081957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18</a:t>
            </a:r>
            <a:endParaRPr lang="en-US" sz="10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10A70873-1702-A2E0-5F27-2073761324AA}"/>
              </a:ext>
            </a:extLst>
          </p:cNvPr>
          <p:cNvSpPr/>
          <p:nvPr/>
        </p:nvSpPr>
        <p:spPr>
          <a:xfrm>
            <a:off x="7850386" y="3834527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19</a:t>
            </a:r>
            <a:endParaRPr lang="en-US" sz="10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CEFA0771-AADB-B7DC-A83E-83728CDB2307}"/>
              </a:ext>
            </a:extLst>
          </p:cNvPr>
          <p:cNvSpPr/>
          <p:nvPr/>
        </p:nvSpPr>
        <p:spPr>
          <a:xfrm>
            <a:off x="793671" y="4278273"/>
            <a:ext cx="7700010" cy="767239"/>
          </a:xfrm>
          <a:prstGeom prst="roundRect">
            <a:avLst>
              <a:gd name="adj" fmla="val 706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80413767-A198-005F-FE0C-CB9A4567AA91}"/>
              </a:ext>
            </a:extLst>
          </p:cNvPr>
          <p:cNvSpPr/>
          <p:nvPr/>
        </p:nvSpPr>
        <p:spPr>
          <a:xfrm>
            <a:off x="801291" y="4285893"/>
            <a:ext cx="7684770" cy="37599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9E72C946-1A3B-320C-07C9-E09FD7EE478F}"/>
              </a:ext>
            </a:extLst>
          </p:cNvPr>
          <p:cNvSpPr/>
          <p:nvPr/>
        </p:nvSpPr>
        <p:spPr>
          <a:xfrm>
            <a:off x="930235" y="4370784"/>
            <a:ext cx="7426881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</a:t>
            </a:r>
            <a:endParaRPr lang="en-US" sz="10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F6A84DF3-D5D3-8FF3-8E78-2D22DFF1496B}"/>
              </a:ext>
            </a:extLst>
          </p:cNvPr>
          <p:cNvSpPr/>
          <p:nvPr/>
        </p:nvSpPr>
        <p:spPr>
          <a:xfrm>
            <a:off x="801291" y="4661892"/>
            <a:ext cx="7684770" cy="37599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7E181B40-E382-D935-238D-40C52E3E8347}"/>
              </a:ext>
            </a:extLst>
          </p:cNvPr>
          <p:cNvSpPr/>
          <p:nvPr/>
        </p:nvSpPr>
        <p:spPr>
          <a:xfrm>
            <a:off x="930235" y="4746784"/>
            <a:ext cx="7426881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</a:t>
            </a:r>
            <a:endParaRPr lang="en-US" sz="10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2DF0A3EC-8623-6680-59A4-B526F41A09E9}"/>
              </a:ext>
            </a:extLst>
          </p:cNvPr>
          <p:cNvSpPr/>
          <p:nvPr/>
        </p:nvSpPr>
        <p:spPr>
          <a:xfrm>
            <a:off x="793671" y="5190530"/>
            <a:ext cx="770001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Decodifica</a:t>
            </a: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“</a:t>
            </a:r>
            <a:r>
              <a:rPr lang="en-US" sz="1400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gehs</a:t>
            </a:r>
            <a:endParaRPr lang="en-US" sz="140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ACAA2051-3478-959C-DE02-7D13F1E3B7C1}"/>
              </a:ext>
            </a:extLst>
          </p:cNvPr>
          <p:cNvSpPr/>
          <p:nvPr/>
        </p:nvSpPr>
        <p:spPr>
          <a:xfrm>
            <a:off x="793671" y="5512713"/>
            <a:ext cx="770001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Decifrando</a:t>
            </a: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la </a:t>
            </a:r>
            <a:r>
              <a:rPr lang="en-US" sz="1400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parola</a:t>
            </a: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“</a:t>
            </a:r>
            <a:r>
              <a:rPr lang="en-US" sz="1400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gewe</a:t>
            </a: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 con chiave K=4:</a:t>
            </a:r>
            <a:endParaRPr lang="en-US" sz="14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DEC2EAA5-A15A-B635-D044-89E7E6F584E2}"/>
              </a:ext>
            </a:extLst>
          </p:cNvPr>
          <p:cNvSpPr/>
          <p:nvPr/>
        </p:nvSpPr>
        <p:spPr>
          <a:xfrm>
            <a:off x="793671" y="5834896"/>
            <a:ext cx="770001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 (6) → c (2) [6-4=2</a:t>
            </a:r>
            <a:endParaRPr lang="en-US" sz="14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3BF57F40-F310-998C-D173-DC1CF815FA2D}"/>
              </a:ext>
            </a:extLst>
          </p:cNvPr>
          <p:cNvSpPr/>
          <p:nvPr/>
        </p:nvSpPr>
        <p:spPr>
          <a:xfrm>
            <a:off x="793671" y="6086237"/>
            <a:ext cx="770001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 (4) → a (0) [4-4=0</a:t>
            </a:r>
            <a:endParaRPr lang="en-US" sz="1400" dirty="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51FC3394-49CB-E6E7-3D6A-4E1A6EF8C3AF}"/>
              </a:ext>
            </a:extLst>
          </p:cNvPr>
          <p:cNvSpPr/>
          <p:nvPr/>
        </p:nvSpPr>
        <p:spPr>
          <a:xfrm>
            <a:off x="793671" y="6337578"/>
            <a:ext cx="770001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 (7) → d(3) [7-4=30]</a:t>
            </a:r>
            <a:endParaRPr lang="en-US" sz="1400" dirty="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1A1097A2-CC01-D43E-6E73-12C687B4AE7E}"/>
              </a:ext>
            </a:extLst>
          </p:cNvPr>
          <p:cNvSpPr/>
          <p:nvPr/>
        </p:nvSpPr>
        <p:spPr>
          <a:xfrm>
            <a:off x="793671" y="6588919"/>
            <a:ext cx="770001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 (16) → o (12) [16-4=12]</a:t>
            </a:r>
            <a:endParaRPr lang="en-US" sz="1400" dirty="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9413670E-0EF0-AE57-7B6C-DB1933440F96}"/>
              </a:ext>
            </a:extLst>
          </p:cNvPr>
          <p:cNvSpPr/>
          <p:nvPr/>
        </p:nvSpPr>
        <p:spPr>
          <a:xfrm>
            <a:off x="793671" y="6911102"/>
            <a:ext cx="770001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Quindi</a:t>
            </a: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“</a:t>
            </a:r>
            <a:r>
              <a:rPr lang="en-US" sz="1400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gehs</a:t>
            </a: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 </a:t>
            </a:r>
            <a:r>
              <a:rPr lang="en-US" sz="1400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diventa</a:t>
            </a: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“</a:t>
            </a:r>
            <a:r>
              <a:rPr lang="en-US" sz="1400" dirty="0" err="1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cado</a:t>
            </a: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</a:t>
            </a:r>
            <a:endParaRPr lang="en-US" sz="1400" dirty="0"/>
          </a:p>
        </p:txBody>
      </p:sp>
      <p:sp>
        <p:nvSpPr>
          <p:cNvPr id="64" name="Text 61">
            <a:extLst>
              <a:ext uri="{FF2B5EF4-FFF2-40B4-BE49-F238E27FC236}">
                <a16:creationId xmlns:a16="http://schemas.microsoft.com/office/drawing/2014/main" id="{3DF1EBF4-A9CC-EDF1-6260-D5437E27E8DF}"/>
              </a:ext>
            </a:extLst>
          </p:cNvPr>
          <p:cNvSpPr/>
          <p:nvPr/>
        </p:nvSpPr>
        <p:spPr>
          <a:xfrm>
            <a:off x="8815864" y="3793688"/>
            <a:ext cx="2362200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Caratteristiche principali:</a:t>
            </a:r>
            <a:endParaRPr lang="en-US" sz="1400" dirty="0"/>
          </a:p>
        </p:txBody>
      </p:sp>
      <p:sp>
        <p:nvSpPr>
          <p:cNvPr id="65" name="Text 62">
            <a:extLst>
              <a:ext uri="{FF2B5EF4-FFF2-40B4-BE49-F238E27FC236}">
                <a16:creationId xmlns:a16="http://schemas.microsoft.com/office/drawing/2014/main" id="{6B3AE9E9-12EB-1616-917A-8FB065045094}"/>
              </a:ext>
            </a:extLst>
          </p:cNvPr>
          <p:cNvSpPr/>
          <p:nvPr/>
        </p:nvSpPr>
        <p:spPr>
          <a:xfrm>
            <a:off x="8815864" y="4150162"/>
            <a:ext cx="5028486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Utilizzo della stessa chiave per cifrare e decifrare</a:t>
            </a:r>
            <a:endParaRPr lang="en-US" sz="1000" dirty="0"/>
          </a:p>
        </p:txBody>
      </p:sp>
      <p:sp>
        <p:nvSpPr>
          <p:cNvPr id="66" name="Text 63">
            <a:extLst>
              <a:ext uri="{FF2B5EF4-FFF2-40B4-BE49-F238E27FC236}">
                <a16:creationId xmlns:a16="http://schemas.microsoft.com/office/drawing/2014/main" id="{D9FD415D-A8F6-E7A3-DB62-E7032FB67282}"/>
              </a:ext>
            </a:extLst>
          </p:cNvPr>
          <p:cNvSpPr/>
          <p:nvPr/>
        </p:nvSpPr>
        <p:spPr>
          <a:xfrm>
            <a:off x="8815864" y="4401503"/>
            <a:ext cx="5028486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Processo computazionalmente efficiente</a:t>
            </a:r>
            <a:endParaRPr lang="en-US" sz="1000" dirty="0"/>
          </a:p>
        </p:txBody>
      </p:sp>
      <p:sp>
        <p:nvSpPr>
          <p:cNvPr id="67" name="Text 64">
            <a:extLst>
              <a:ext uri="{FF2B5EF4-FFF2-40B4-BE49-F238E27FC236}">
                <a16:creationId xmlns:a16="http://schemas.microsoft.com/office/drawing/2014/main" id="{10EDDF2E-8BFD-9AF9-4678-219E5028544C}"/>
              </a:ext>
            </a:extLst>
          </p:cNvPr>
          <p:cNvSpPr/>
          <p:nvPr/>
        </p:nvSpPr>
        <p:spPr>
          <a:xfrm>
            <a:off x="8815864" y="4652843"/>
            <a:ext cx="5028486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Adatto per grandi volumi di dati</a:t>
            </a:r>
            <a:endParaRPr lang="en-US" sz="1000" dirty="0"/>
          </a:p>
        </p:txBody>
      </p:sp>
      <p:sp>
        <p:nvSpPr>
          <p:cNvPr id="68" name="Text 65">
            <a:extLst>
              <a:ext uri="{FF2B5EF4-FFF2-40B4-BE49-F238E27FC236}">
                <a16:creationId xmlns:a16="http://schemas.microsoft.com/office/drawing/2014/main" id="{623A08BD-5208-18C9-2850-677A53BC60CD}"/>
              </a:ext>
            </a:extLst>
          </p:cNvPr>
          <p:cNvSpPr/>
          <p:nvPr/>
        </p:nvSpPr>
        <p:spPr>
          <a:xfrm>
            <a:off x="8815864" y="4904184"/>
            <a:ext cx="5028486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Richiede un canale sicuro per lo scambio della chiave</a:t>
            </a:r>
            <a:endParaRPr lang="en-US" sz="1000" dirty="0"/>
          </a:p>
        </p:txBody>
      </p:sp>
      <p:sp>
        <p:nvSpPr>
          <p:cNvPr id="69" name="Shape 66">
            <a:extLst>
              <a:ext uri="{FF2B5EF4-FFF2-40B4-BE49-F238E27FC236}">
                <a16:creationId xmlns:a16="http://schemas.microsoft.com/office/drawing/2014/main" id="{B5A3D1F8-E348-A887-F786-42C6D7BBEBD6}"/>
              </a:ext>
            </a:extLst>
          </p:cNvPr>
          <p:cNvSpPr/>
          <p:nvPr/>
        </p:nvSpPr>
        <p:spPr>
          <a:xfrm>
            <a:off x="8815864" y="5255419"/>
            <a:ext cx="5028486" cy="960120"/>
          </a:xfrm>
          <a:prstGeom prst="roundRect">
            <a:avLst>
              <a:gd name="adj" fmla="val 5642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0" name="Image 1" descr="preencoded.png">
            <a:extLst>
              <a:ext uri="{FF2B5EF4-FFF2-40B4-BE49-F238E27FC236}">
                <a16:creationId xmlns:a16="http://schemas.microsoft.com/office/drawing/2014/main" id="{A621938A-392D-0B84-2431-842ACC414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808" y="5440799"/>
            <a:ext cx="161211" cy="128945"/>
          </a:xfrm>
          <a:prstGeom prst="rect">
            <a:avLst/>
          </a:prstGeom>
        </p:spPr>
      </p:pic>
      <p:sp>
        <p:nvSpPr>
          <p:cNvPr id="71" name="Text 67">
            <a:extLst>
              <a:ext uri="{FF2B5EF4-FFF2-40B4-BE49-F238E27FC236}">
                <a16:creationId xmlns:a16="http://schemas.microsoft.com/office/drawing/2014/main" id="{523285BA-2681-6B3A-4732-A6E3C7C84F43}"/>
              </a:ext>
            </a:extLst>
          </p:cNvPr>
          <p:cNvSpPr/>
          <p:nvPr/>
        </p:nvSpPr>
        <p:spPr>
          <a:xfrm>
            <a:off x="9234964" y="5416510"/>
            <a:ext cx="4480441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 problema principale della crittografia simmetrica è la distribuzione sicura della chiave: come può il mittente condividere la chiave con il destinatario senza che questa venga intercettata?</a:t>
            </a:r>
            <a:endParaRPr lang="en-US" sz="1000" dirty="0"/>
          </a:p>
        </p:txBody>
      </p:sp>
      <p:sp>
        <p:nvSpPr>
          <p:cNvPr id="72" name="Text 68">
            <a:extLst>
              <a:ext uri="{FF2B5EF4-FFF2-40B4-BE49-F238E27FC236}">
                <a16:creationId xmlns:a16="http://schemas.microsoft.com/office/drawing/2014/main" id="{87F91078-0020-C298-8844-030B6543E32D}"/>
              </a:ext>
            </a:extLst>
          </p:cNvPr>
          <p:cNvSpPr/>
          <p:nvPr/>
        </p:nvSpPr>
        <p:spPr>
          <a:xfrm>
            <a:off x="793671" y="7378303"/>
            <a:ext cx="13043059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Algoritmi moderni di cifratura simmetrica includono AES (Advanced Encryption Standard), DES (Data Encryption Standard), 3DES (Triple DES) e Blowfish, che sono molto più complessi e sicuri del semplice spostamento alfabetico illustrato sopra.</a:t>
            </a:r>
            <a:endParaRPr lang="en-US" sz="1400" dirty="0"/>
          </a:p>
        </p:txBody>
      </p:sp>
      <p:pic>
        <p:nvPicPr>
          <p:cNvPr id="74" name="Immagine 73" descr="Immagine che contiene schermata, testo, Carattere&#10;&#10;Il contenuto generato dall'IA potrebbe non essere corretto.">
            <a:extLst>
              <a:ext uri="{FF2B5EF4-FFF2-40B4-BE49-F238E27FC236}">
                <a16:creationId xmlns:a16="http://schemas.microsoft.com/office/drawing/2014/main" id="{F6BF245B-E395-D613-51BF-E7A475847F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777770" y="971372"/>
            <a:ext cx="2381250" cy="2333625"/>
          </a:xfrm>
          <a:prstGeom prst="rect">
            <a:avLst/>
          </a:prstGeom>
        </p:spPr>
      </p:pic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4DA983C3-93D3-E8F3-680D-9A656A18A96F}"/>
              </a:ext>
            </a:extLst>
          </p:cNvPr>
          <p:cNvSpPr txBox="1"/>
          <p:nvPr/>
        </p:nvSpPr>
        <p:spPr>
          <a:xfrm>
            <a:off x="9777770" y="3304997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>
                <a:hlinkClick r:id="rId5" tooltip="https://it.qaz.wiki/wiki/Public-key_cryptography"/>
              </a:rPr>
              <a:t>Questa foto</a:t>
            </a:r>
            <a:r>
              <a:rPr lang="it-IT" sz="900"/>
              <a:t> di Autore sconosciuto è concesso in licenza da </a:t>
            </a:r>
            <a:r>
              <a:rPr lang="it-IT" sz="900">
                <a:hlinkClick r:id="rId6" tooltip="https://creativecommons.org/licenses/by-sa/3.0/"/>
              </a:rPr>
              <a:t>CC BY-SA</a:t>
            </a:r>
            <a:endParaRPr lang="it-IT" sz="900"/>
          </a:p>
        </p:txBody>
      </p:sp>
    </p:spTree>
    <p:extLst>
      <p:ext uri="{BB962C8B-B14F-4D97-AF65-F5344CB8AC3E}">
        <p14:creationId xmlns:p14="http://schemas.microsoft.com/office/powerpoint/2010/main" val="947575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782" y="504468"/>
            <a:ext cx="6730365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851B2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LA FUNZIONE MODULO NELLA CRITTOGRAFIA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3782" y="991790"/>
            <a:ext cx="4136588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80BA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SI UTILIZZA LA FUNZIONE MODULO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26163" y="1409104"/>
            <a:ext cx="6436043" cy="38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Nella crittografia, la funzione modulo è fondamentale per mantenere i valori all'interno di un intervallo predefinito, come l'alfabeto. </a:t>
            </a: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ESSA RITORNA IL RESTO DELLA DIVISIONE</a:t>
            </a: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tra due numeri.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3782" y="2053828"/>
            <a:ext cx="1742003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Definizione formale: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3782" y="2383393"/>
            <a:ext cx="6436043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mod n = r dove r è il resto della divisione di a per 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3782" y="2693432"/>
            <a:ext cx="1683544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Esempio base: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6644" y="2991564"/>
            <a:ext cx="6436043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 MODULO 2 =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3782" y="3321129"/>
            <a:ext cx="6436043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PERCHÉ? 5:2=2 CON RESTO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6163" y="3675103"/>
            <a:ext cx="6436043" cy="38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Quando cifriamo una lettera e lo spostamento ci porta oltre l'ultima lettera dell'alfabeto, dobbiamo "riavvolgere" e ricominciare dall'inizio. La funzione modulo gestisce automaticamente questo riavvolgimento.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3782" y="4449723"/>
            <a:ext cx="6436043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Formula generale: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3782" y="4747855"/>
            <a:ext cx="6436043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(</a:t>
            </a:r>
            <a:r>
              <a:rPr lang="en-US" sz="16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posizione_lettera + chiave) mod 21 = nuova_posizione</a:t>
            </a:r>
            <a:endParaRPr lang="en-US" sz="16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195" y="1168122"/>
            <a:ext cx="2286000" cy="2286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468195" y="3588187"/>
            <a:ext cx="1683544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Esempio pratico: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468195" y="3917752"/>
            <a:ext cx="6436043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Cifrando la lettera 'z' (posizione 20) con chiave K=3: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468195" y="4215884"/>
            <a:ext cx="6436043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(20 + 3) mod 21 = 23 mod 21 = 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468195" y="4514017"/>
            <a:ext cx="6436043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Quindi 'z' diventa 'c' (posizione 2)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468195" y="4838938"/>
            <a:ext cx="6436043" cy="995601"/>
          </a:xfrm>
          <a:prstGeom prst="roundRect">
            <a:avLst>
              <a:gd name="adj" fmla="val 5031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7377" y="5013127"/>
            <a:ext cx="149066" cy="11918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855625" y="4987885"/>
            <a:ext cx="5929432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PERCHÉ USARE IL MODULO?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7855625" y="5286018"/>
            <a:ext cx="5929432" cy="38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 modulo garantisce che i risultati delle operazioni di cifratura rimangano all'interno dell'insieme dei caratteri disponibili (l'alfabeto). Funziona come un orologio ciclico, dove dopo il 12 si ricomincia dall'1.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7468195" y="5968603"/>
            <a:ext cx="6436043" cy="38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Questa tecnica è fondamentale in molti algoritmi crittografici moderni, non solo nei cifrari classici, e costituisce la base di operazioni matematiche più complesse utilizzate nella crittografia avanzata.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733782" y="6591657"/>
            <a:ext cx="119182" cy="149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01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733782" y="6779062"/>
            <a:ext cx="6521768" cy="15240"/>
          </a:xfrm>
          <a:prstGeom prst="rect">
            <a:avLst/>
          </a:prstGeom>
          <a:solidFill>
            <a:srgbClr val="E85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2"/>
          <p:cNvSpPr/>
          <p:nvPr/>
        </p:nvSpPr>
        <p:spPr>
          <a:xfrm>
            <a:off x="733782" y="6869073"/>
            <a:ext cx="6521768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Identificare l'alfabeto e numerare le lettere (da 0 a 20 nel nostro esempio)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7374731" y="6591657"/>
            <a:ext cx="119182" cy="149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02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7374731" y="6779062"/>
            <a:ext cx="6521887" cy="15240"/>
          </a:xfrm>
          <a:prstGeom prst="rect">
            <a:avLst/>
          </a:prstGeom>
          <a:solidFill>
            <a:srgbClr val="E85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5"/>
          <p:cNvSpPr/>
          <p:nvPr/>
        </p:nvSpPr>
        <p:spPr>
          <a:xfrm>
            <a:off x="7374731" y="6869073"/>
            <a:ext cx="6521887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Convertire ogni lettera nel numero corrispondente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733782" y="7268527"/>
            <a:ext cx="119182" cy="149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03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733782" y="7455932"/>
            <a:ext cx="6521768" cy="15240"/>
          </a:xfrm>
          <a:prstGeom prst="rect">
            <a:avLst/>
          </a:prstGeom>
          <a:solidFill>
            <a:srgbClr val="E85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28"/>
          <p:cNvSpPr/>
          <p:nvPr/>
        </p:nvSpPr>
        <p:spPr>
          <a:xfrm>
            <a:off x="776644" y="7558029"/>
            <a:ext cx="6521768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Applicare la formula: (numero + chiave) mod lunghezza_alfabeto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7374731" y="7268527"/>
            <a:ext cx="119182" cy="149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7374731" y="7455932"/>
            <a:ext cx="6521887" cy="15240"/>
          </a:xfrm>
          <a:prstGeom prst="rect">
            <a:avLst/>
          </a:prstGeom>
          <a:solidFill>
            <a:srgbClr val="E85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Text 31"/>
          <p:cNvSpPr/>
          <p:nvPr/>
        </p:nvSpPr>
        <p:spPr>
          <a:xfrm>
            <a:off x="7374731" y="7545943"/>
            <a:ext cx="6521887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Riconvertire il numero risultante nella lettera corrispondente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742D8-DF7C-3922-09EB-9A4C94865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268F97-4C0C-A929-3CD2-29E8EEAC0EA1}"/>
              </a:ext>
            </a:extLst>
          </p:cNvPr>
          <p:cNvSpPr/>
          <p:nvPr/>
        </p:nvSpPr>
        <p:spPr>
          <a:xfrm>
            <a:off x="793670" y="644962"/>
            <a:ext cx="7157633" cy="394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E851B2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DECODIFICA CIFRATURA A CHIAVE SIMMETRICA CON MODULO</a:t>
            </a:r>
            <a:endParaRPr lang="en-US" sz="23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D7444B1-4679-7FB9-C9BF-33C863CAC507}"/>
              </a:ext>
            </a:extLst>
          </p:cNvPr>
          <p:cNvSpPr/>
          <p:nvPr/>
        </p:nvSpPr>
        <p:spPr>
          <a:xfrm>
            <a:off x="793671" y="2453759"/>
            <a:ext cx="7700010" cy="767239"/>
          </a:xfrm>
          <a:prstGeom prst="roundRect">
            <a:avLst>
              <a:gd name="adj" fmla="val 706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E665174-30D5-87AA-347E-C86EFF727204}"/>
              </a:ext>
            </a:extLst>
          </p:cNvPr>
          <p:cNvSpPr/>
          <p:nvPr/>
        </p:nvSpPr>
        <p:spPr>
          <a:xfrm>
            <a:off x="851653" y="2470309"/>
            <a:ext cx="7707630" cy="39362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it-IT" sz="2800" dirty="0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FEF166-010B-66F2-695C-C40C3BD7F952}"/>
              </a:ext>
            </a:extLst>
          </p:cNvPr>
          <p:cNvSpPr/>
          <p:nvPr/>
        </p:nvSpPr>
        <p:spPr>
          <a:xfrm>
            <a:off x="930712" y="2546271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</a:t>
            </a:r>
            <a:endParaRPr lang="en-US" sz="1400" b="1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09C28AD-4003-841D-23C6-D370A5467CCA}"/>
              </a:ext>
            </a:extLst>
          </p:cNvPr>
          <p:cNvSpPr/>
          <p:nvPr/>
        </p:nvSpPr>
        <p:spPr>
          <a:xfrm>
            <a:off x="1702951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</a:t>
            </a:r>
            <a:endParaRPr lang="en-US" sz="1400" b="1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807378A-E466-AC5F-ABEA-B70130560A54}"/>
              </a:ext>
            </a:extLst>
          </p:cNvPr>
          <p:cNvSpPr/>
          <p:nvPr/>
        </p:nvSpPr>
        <p:spPr>
          <a:xfrm>
            <a:off x="2471380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</a:t>
            </a:r>
            <a:endParaRPr lang="en-US" sz="1400" b="1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82E5659-BB8E-66C4-C9F0-755C30EDCD46}"/>
              </a:ext>
            </a:extLst>
          </p:cNvPr>
          <p:cNvSpPr/>
          <p:nvPr/>
        </p:nvSpPr>
        <p:spPr>
          <a:xfrm>
            <a:off x="3239810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</a:t>
            </a:r>
            <a:endParaRPr lang="en-US" sz="1400" b="1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768EA91-17E0-61F8-77C4-47A696881F7B}"/>
              </a:ext>
            </a:extLst>
          </p:cNvPr>
          <p:cNvSpPr/>
          <p:nvPr/>
        </p:nvSpPr>
        <p:spPr>
          <a:xfrm>
            <a:off x="4008239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</a:t>
            </a:r>
            <a:endParaRPr lang="en-US" sz="1400" b="1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5A6F6ED-BCC8-CBCD-6DA5-BE52A152C9C4}"/>
              </a:ext>
            </a:extLst>
          </p:cNvPr>
          <p:cNvSpPr/>
          <p:nvPr/>
        </p:nvSpPr>
        <p:spPr>
          <a:xfrm>
            <a:off x="4776668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</a:t>
            </a:r>
            <a:endParaRPr lang="en-US" sz="1400" b="1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46F64BD-CE97-F95A-8BBA-FD067EDD7452}"/>
              </a:ext>
            </a:extLst>
          </p:cNvPr>
          <p:cNvSpPr/>
          <p:nvPr/>
        </p:nvSpPr>
        <p:spPr>
          <a:xfrm>
            <a:off x="5545098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</a:t>
            </a:r>
            <a:endParaRPr lang="en-US" sz="1400" b="1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76D9385-0129-6456-802E-429A539E8655}"/>
              </a:ext>
            </a:extLst>
          </p:cNvPr>
          <p:cNvSpPr/>
          <p:nvPr/>
        </p:nvSpPr>
        <p:spPr>
          <a:xfrm>
            <a:off x="6313527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11935A1-C1CB-B408-31F9-1C1171A4E21A}"/>
              </a:ext>
            </a:extLst>
          </p:cNvPr>
          <p:cNvSpPr/>
          <p:nvPr/>
        </p:nvSpPr>
        <p:spPr>
          <a:xfrm>
            <a:off x="7081957" y="2546271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</a:t>
            </a:r>
            <a:endParaRPr lang="en-US" sz="1400" b="1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05B98AE-C256-FBD1-F5A6-A5397C3346FE}"/>
              </a:ext>
            </a:extLst>
          </p:cNvPr>
          <p:cNvSpPr/>
          <p:nvPr/>
        </p:nvSpPr>
        <p:spPr>
          <a:xfrm>
            <a:off x="7850386" y="2546271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</a:t>
            </a:r>
            <a:endParaRPr lang="en-US" sz="1400" b="1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A4887FE-021F-41DF-6158-598B22AB2D08}"/>
              </a:ext>
            </a:extLst>
          </p:cNvPr>
          <p:cNvSpPr/>
          <p:nvPr/>
        </p:nvSpPr>
        <p:spPr>
          <a:xfrm>
            <a:off x="801291" y="2837378"/>
            <a:ext cx="7684770" cy="37599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B513B91-C19D-F929-41AF-3A18B5D8C64A}"/>
              </a:ext>
            </a:extLst>
          </p:cNvPr>
          <p:cNvSpPr/>
          <p:nvPr/>
        </p:nvSpPr>
        <p:spPr>
          <a:xfrm>
            <a:off x="930712" y="2922270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0EE7294-A522-F6D9-987B-19A6AAD2D00F}"/>
              </a:ext>
            </a:extLst>
          </p:cNvPr>
          <p:cNvSpPr/>
          <p:nvPr/>
        </p:nvSpPr>
        <p:spPr>
          <a:xfrm>
            <a:off x="1702951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4A42274-F7B5-6C55-C8F0-7A24A4CF4BF5}"/>
              </a:ext>
            </a:extLst>
          </p:cNvPr>
          <p:cNvSpPr/>
          <p:nvPr/>
        </p:nvSpPr>
        <p:spPr>
          <a:xfrm>
            <a:off x="2471380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2878586-0A08-79EA-A34D-F176E25C6EBD}"/>
              </a:ext>
            </a:extLst>
          </p:cNvPr>
          <p:cNvSpPr/>
          <p:nvPr/>
        </p:nvSpPr>
        <p:spPr>
          <a:xfrm>
            <a:off x="3239810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9FBED85-AA00-ABF8-0485-A38696AE301F}"/>
              </a:ext>
            </a:extLst>
          </p:cNvPr>
          <p:cNvSpPr/>
          <p:nvPr/>
        </p:nvSpPr>
        <p:spPr>
          <a:xfrm>
            <a:off x="4008239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460CEE8-9244-204B-507C-920D0D3D6D11}"/>
              </a:ext>
            </a:extLst>
          </p:cNvPr>
          <p:cNvSpPr/>
          <p:nvPr/>
        </p:nvSpPr>
        <p:spPr>
          <a:xfrm>
            <a:off x="4776668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62FBFFD-5FC2-B007-15D5-9520E4C4A81C}"/>
              </a:ext>
            </a:extLst>
          </p:cNvPr>
          <p:cNvSpPr/>
          <p:nvPr/>
        </p:nvSpPr>
        <p:spPr>
          <a:xfrm>
            <a:off x="5545098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5E63079-CBAE-345B-79BD-7E804B5785A1}"/>
              </a:ext>
            </a:extLst>
          </p:cNvPr>
          <p:cNvSpPr/>
          <p:nvPr/>
        </p:nvSpPr>
        <p:spPr>
          <a:xfrm>
            <a:off x="6313527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1BCD585-7697-DEB8-B5D2-C6B9A06A883B}"/>
              </a:ext>
            </a:extLst>
          </p:cNvPr>
          <p:cNvSpPr/>
          <p:nvPr/>
        </p:nvSpPr>
        <p:spPr>
          <a:xfrm>
            <a:off x="7081957" y="2922270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ACB76DE-4CAA-29BE-A50A-430E8BAACBCF}"/>
              </a:ext>
            </a:extLst>
          </p:cNvPr>
          <p:cNvSpPr/>
          <p:nvPr/>
        </p:nvSpPr>
        <p:spPr>
          <a:xfrm>
            <a:off x="7850386" y="2922270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</a:t>
            </a:r>
            <a:endParaRPr lang="en-US" sz="1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491DEC35-B502-8EFE-943C-034150BACC78}"/>
              </a:ext>
            </a:extLst>
          </p:cNvPr>
          <p:cNvSpPr/>
          <p:nvPr/>
        </p:nvSpPr>
        <p:spPr>
          <a:xfrm>
            <a:off x="793671" y="3366016"/>
            <a:ext cx="7700010" cy="767239"/>
          </a:xfrm>
          <a:prstGeom prst="roundRect">
            <a:avLst>
              <a:gd name="adj" fmla="val 706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DACB975-D8BE-31F6-7B6A-44DCA4BDF679}"/>
              </a:ext>
            </a:extLst>
          </p:cNvPr>
          <p:cNvSpPr/>
          <p:nvPr/>
        </p:nvSpPr>
        <p:spPr>
          <a:xfrm>
            <a:off x="801291" y="3373636"/>
            <a:ext cx="7684770" cy="375999"/>
          </a:xfrm>
          <a:prstGeom prst="rect">
            <a:avLst/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209682B-60CC-8D75-DECD-6B5A4F8D6242}"/>
              </a:ext>
            </a:extLst>
          </p:cNvPr>
          <p:cNvSpPr/>
          <p:nvPr/>
        </p:nvSpPr>
        <p:spPr>
          <a:xfrm>
            <a:off x="998756" y="3458528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</a:t>
            </a:r>
            <a:endParaRPr lang="en-US" sz="1400" b="1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1568924-33EF-FCAF-A2E0-1ED24A029781}"/>
              </a:ext>
            </a:extLst>
          </p:cNvPr>
          <p:cNvSpPr/>
          <p:nvPr/>
        </p:nvSpPr>
        <p:spPr>
          <a:xfrm>
            <a:off x="1702951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</a:t>
            </a:r>
            <a:endParaRPr lang="en-US" sz="1400" b="1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6425E52-CE4B-7F2C-6749-645951E0FFDB}"/>
              </a:ext>
            </a:extLst>
          </p:cNvPr>
          <p:cNvSpPr/>
          <p:nvPr/>
        </p:nvSpPr>
        <p:spPr>
          <a:xfrm>
            <a:off x="2471380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</a:t>
            </a:r>
            <a:endParaRPr lang="en-US" sz="1400" b="1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1F5D61B-AADF-B757-F60A-0E2561B1C533}"/>
              </a:ext>
            </a:extLst>
          </p:cNvPr>
          <p:cNvSpPr/>
          <p:nvPr/>
        </p:nvSpPr>
        <p:spPr>
          <a:xfrm>
            <a:off x="3239810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</a:t>
            </a:r>
            <a:endParaRPr lang="en-US" sz="1400" b="1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D28875B-8E92-E8DC-0CAC-0EAA58E83C3B}"/>
              </a:ext>
            </a:extLst>
          </p:cNvPr>
          <p:cNvSpPr/>
          <p:nvPr/>
        </p:nvSpPr>
        <p:spPr>
          <a:xfrm>
            <a:off x="4008239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</a:t>
            </a:r>
            <a:endParaRPr lang="en-US" sz="1400" b="1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8E166836-F457-B529-C3FF-847070CD0D27}"/>
              </a:ext>
            </a:extLst>
          </p:cNvPr>
          <p:cNvSpPr/>
          <p:nvPr/>
        </p:nvSpPr>
        <p:spPr>
          <a:xfrm>
            <a:off x="4776668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</a:t>
            </a:r>
            <a:endParaRPr lang="en-US" sz="1400" b="1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DD9C8CD-2572-AB2C-863A-431E210A9FAA}"/>
              </a:ext>
            </a:extLst>
          </p:cNvPr>
          <p:cNvSpPr/>
          <p:nvPr/>
        </p:nvSpPr>
        <p:spPr>
          <a:xfrm>
            <a:off x="5545098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</a:t>
            </a:r>
            <a:endParaRPr lang="en-US" sz="1400" b="1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4C1DA823-DF76-96D4-D1D4-4880B8B68E3D}"/>
              </a:ext>
            </a:extLst>
          </p:cNvPr>
          <p:cNvSpPr/>
          <p:nvPr/>
        </p:nvSpPr>
        <p:spPr>
          <a:xfrm>
            <a:off x="6313527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</a:t>
            </a:r>
            <a:endParaRPr lang="en-US" sz="1400" b="1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E8059F8-852E-CF17-B742-635E0760746D}"/>
              </a:ext>
            </a:extLst>
          </p:cNvPr>
          <p:cNvSpPr/>
          <p:nvPr/>
        </p:nvSpPr>
        <p:spPr>
          <a:xfrm>
            <a:off x="7081957" y="3458528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</a:t>
            </a:r>
            <a:endParaRPr lang="en-US" sz="1400" b="1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6207DD5-490B-11F2-266A-ACA16EA7BC33}"/>
              </a:ext>
            </a:extLst>
          </p:cNvPr>
          <p:cNvSpPr/>
          <p:nvPr/>
        </p:nvSpPr>
        <p:spPr>
          <a:xfrm>
            <a:off x="7850386" y="3458528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</a:t>
            </a:r>
            <a:endParaRPr lang="en-US" sz="1400" b="1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9D5FEDBC-AF89-375A-2872-45B9D753CC56}"/>
              </a:ext>
            </a:extLst>
          </p:cNvPr>
          <p:cNvSpPr/>
          <p:nvPr/>
        </p:nvSpPr>
        <p:spPr>
          <a:xfrm>
            <a:off x="801291" y="3749635"/>
            <a:ext cx="7684770" cy="37599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063D92D2-BC30-7B03-EC6F-311CAF4F66C9}"/>
              </a:ext>
            </a:extLst>
          </p:cNvPr>
          <p:cNvSpPr/>
          <p:nvPr/>
        </p:nvSpPr>
        <p:spPr>
          <a:xfrm>
            <a:off x="930712" y="3834527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</a:t>
            </a:r>
            <a:endParaRPr lang="en-US" sz="10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ECA28755-A664-142D-DBFC-6DD481C3F5B8}"/>
              </a:ext>
            </a:extLst>
          </p:cNvPr>
          <p:cNvSpPr/>
          <p:nvPr/>
        </p:nvSpPr>
        <p:spPr>
          <a:xfrm>
            <a:off x="1702951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11</a:t>
            </a:r>
            <a:endParaRPr lang="en-US" sz="10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4A5A3602-1A0A-8C48-7829-3002FE7013AA}"/>
              </a:ext>
            </a:extLst>
          </p:cNvPr>
          <p:cNvSpPr/>
          <p:nvPr/>
        </p:nvSpPr>
        <p:spPr>
          <a:xfrm>
            <a:off x="2471380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</a:t>
            </a:r>
            <a:endParaRPr lang="en-US" sz="1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51D751FA-1144-1AE5-4ABB-00D1D65C798D}"/>
              </a:ext>
            </a:extLst>
          </p:cNvPr>
          <p:cNvSpPr/>
          <p:nvPr/>
        </p:nvSpPr>
        <p:spPr>
          <a:xfrm>
            <a:off x="3239810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13</a:t>
            </a:r>
            <a:endParaRPr lang="en-US" sz="10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A969450-E40F-E3AF-B578-6B9C770F62F4}"/>
              </a:ext>
            </a:extLst>
          </p:cNvPr>
          <p:cNvSpPr/>
          <p:nvPr/>
        </p:nvSpPr>
        <p:spPr>
          <a:xfrm>
            <a:off x="4008239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14</a:t>
            </a:r>
            <a:endParaRPr lang="en-US" sz="10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38111EA1-0120-F761-EC74-CE1DB241F268}"/>
              </a:ext>
            </a:extLst>
          </p:cNvPr>
          <p:cNvSpPr/>
          <p:nvPr/>
        </p:nvSpPr>
        <p:spPr>
          <a:xfrm>
            <a:off x="4776668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15</a:t>
            </a:r>
            <a:endParaRPr lang="en-US" sz="10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4EC64A38-EABB-2BDB-A99C-14AE38D36345}"/>
              </a:ext>
            </a:extLst>
          </p:cNvPr>
          <p:cNvSpPr/>
          <p:nvPr/>
        </p:nvSpPr>
        <p:spPr>
          <a:xfrm>
            <a:off x="5545098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16</a:t>
            </a:r>
            <a:endParaRPr lang="en-US" sz="10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6D8303A2-4930-1D8F-6149-D1D931C13B91}"/>
              </a:ext>
            </a:extLst>
          </p:cNvPr>
          <p:cNvSpPr/>
          <p:nvPr/>
        </p:nvSpPr>
        <p:spPr>
          <a:xfrm>
            <a:off x="6313527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17</a:t>
            </a:r>
            <a:endParaRPr lang="en-US" sz="10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AE4BF679-3348-F787-BCB8-8512FD9A5560}"/>
              </a:ext>
            </a:extLst>
          </p:cNvPr>
          <p:cNvSpPr/>
          <p:nvPr/>
        </p:nvSpPr>
        <p:spPr>
          <a:xfrm>
            <a:off x="7081957" y="3834527"/>
            <a:ext cx="50292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18</a:t>
            </a:r>
            <a:endParaRPr lang="en-US" sz="10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2889B2C0-C451-83F0-703B-BA9885F409B1}"/>
              </a:ext>
            </a:extLst>
          </p:cNvPr>
          <p:cNvSpPr/>
          <p:nvPr/>
        </p:nvSpPr>
        <p:spPr>
          <a:xfrm>
            <a:off x="7850386" y="3834527"/>
            <a:ext cx="5067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19</a:t>
            </a:r>
            <a:endParaRPr lang="en-US" sz="10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7235417C-25D4-33EA-442B-A0FAB70D555A}"/>
              </a:ext>
            </a:extLst>
          </p:cNvPr>
          <p:cNvSpPr/>
          <p:nvPr/>
        </p:nvSpPr>
        <p:spPr>
          <a:xfrm>
            <a:off x="793671" y="4278273"/>
            <a:ext cx="7700010" cy="767239"/>
          </a:xfrm>
          <a:prstGeom prst="roundRect">
            <a:avLst>
              <a:gd name="adj" fmla="val 706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C2F01DA7-63FC-9272-DE73-105B9A0E1721}"/>
              </a:ext>
            </a:extLst>
          </p:cNvPr>
          <p:cNvSpPr/>
          <p:nvPr/>
        </p:nvSpPr>
        <p:spPr>
          <a:xfrm>
            <a:off x="801291" y="4285893"/>
            <a:ext cx="7684770" cy="37599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it-IT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8F238505-135D-51AC-5A3A-64F71E0D9FFF}"/>
              </a:ext>
            </a:extLst>
          </p:cNvPr>
          <p:cNvSpPr/>
          <p:nvPr/>
        </p:nvSpPr>
        <p:spPr>
          <a:xfrm>
            <a:off x="930235" y="4370784"/>
            <a:ext cx="7426881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</a:t>
            </a:r>
            <a:endParaRPr lang="en-US" sz="10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B0A22B5B-0876-990D-557F-6FE47AE6CF86}"/>
              </a:ext>
            </a:extLst>
          </p:cNvPr>
          <p:cNvSpPr/>
          <p:nvPr/>
        </p:nvSpPr>
        <p:spPr>
          <a:xfrm>
            <a:off x="801291" y="4661892"/>
            <a:ext cx="7684770" cy="37599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8E504B6F-285A-93AF-3872-6A6857CCA5AA}"/>
              </a:ext>
            </a:extLst>
          </p:cNvPr>
          <p:cNvSpPr/>
          <p:nvPr/>
        </p:nvSpPr>
        <p:spPr>
          <a:xfrm>
            <a:off x="930235" y="4746784"/>
            <a:ext cx="7426881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</a:t>
            </a:r>
            <a:endParaRPr lang="en-US" sz="10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58F0C66E-2C41-7E1E-1609-903C6959EC90}"/>
              </a:ext>
            </a:extLst>
          </p:cNvPr>
          <p:cNvSpPr/>
          <p:nvPr/>
        </p:nvSpPr>
        <p:spPr>
          <a:xfrm>
            <a:off x="793671" y="5190530"/>
            <a:ext cx="770001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it-IT" altLang="it-IT" sz="1400" b="1" dirty="0"/>
              <a:t>ESSENDO UNA CIFRATIRA A CHIAVE SIMMETRICA,SIGNIFICA CHE DOVRO’ USARE LA STESSA CHIAVE</a:t>
            </a:r>
          </a:p>
          <a:p>
            <a:endParaRPr lang="it-IT" altLang="it-IT" sz="1400" b="1" dirty="0"/>
          </a:p>
          <a:p>
            <a:r>
              <a:rPr lang="it-IT" altLang="it-IT" sz="1400" dirty="0"/>
              <a:t>ESEMPIO RICEVO DEG      K=6</a:t>
            </a:r>
          </a:p>
          <a:p>
            <a:r>
              <a:rPr lang="it-IT" altLang="it-IT" sz="1400" dirty="0"/>
              <a:t>D E’ IN POSIZIONE 3</a:t>
            </a:r>
          </a:p>
          <a:p>
            <a:r>
              <a:rPr lang="it-IT" altLang="it-IT" sz="1400" dirty="0"/>
              <a:t>C  (3-6)MODULO 21  =-3 MODULO 21 </a:t>
            </a:r>
          </a:p>
          <a:p>
            <a:r>
              <a:rPr lang="it-IT" altLang="it-IT" sz="1400" b="1" dirty="0">
                <a:solidFill>
                  <a:srgbClr val="FF0000"/>
                </a:solidFill>
              </a:rPr>
              <a:t>QUANDO IL VALORE E’ NEGATIVO DEVO SOMMARE A  3 UN VALORE PER ARRIVARE A 21</a:t>
            </a:r>
          </a:p>
          <a:p>
            <a:r>
              <a:rPr lang="it-IT" altLang="it-IT" sz="1400" dirty="0"/>
              <a:t>QUIINDI 18     CIOE’ U</a:t>
            </a:r>
          </a:p>
          <a:p>
            <a:r>
              <a:rPr lang="it-IT" altLang="it-IT" sz="1400" dirty="0"/>
              <a:t>E (4-6)MODULO 21 =-2 modulo 21 =19    CIOE’ V</a:t>
            </a:r>
          </a:p>
          <a:p>
            <a:endParaRPr lang="it-IT" altLang="it-IT" sz="1400" dirty="0"/>
          </a:p>
          <a:p>
            <a:r>
              <a:rPr lang="it-IT" altLang="it-IT" sz="1400" dirty="0"/>
              <a:t>G (6-6)MODULO 21 =0 MODULO 21=0   CIOE’ A</a:t>
            </a: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099C9276-3F1A-D793-BBF0-DF21E4B0D843}"/>
              </a:ext>
            </a:extLst>
          </p:cNvPr>
          <p:cNvSpPr/>
          <p:nvPr/>
        </p:nvSpPr>
        <p:spPr>
          <a:xfrm>
            <a:off x="801291" y="5543193"/>
            <a:ext cx="770001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4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120041F7-5728-72D4-7CD8-19AE4892BAEA}"/>
              </a:ext>
            </a:extLst>
          </p:cNvPr>
          <p:cNvSpPr/>
          <p:nvPr/>
        </p:nvSpPr>
        <p:spPr>
          <a:xfrm>
            <a:off x="793671" y="5834896"/>
            <a:ext cx="770001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endParaRPr lang="en-US" sz="14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9FEF6DE0-047F-538A-33B5-2FE1FAABF125}"/>
              </a:ext>
            </a:extLst>
          </p:cNvPr>
          <p:cNvSpPr/>
          <p:nvPr/>
        </p:nvSpPr>
        <p:spPr>
          <a:xfrm>
            <a:off x="793671" y="6086237"/>
            <a:ext cx="770001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endParaRPr lang="en-US" sz="1400" dirty="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EBC6B9C3-1E68-B155-3A1F-F6D615827F4D}"/>
              </a:ext>
            </a:extLst>
          </p:cNvPr>
          <p:cNvSpPr/>
          <p:nvPr/>
        </p:nvSpPr>
        <p:spPr>
          <a:xfrm>
            <a:off x="793671" y="6337578"/>
            <a:ext cx="770001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endParaRPr lang="en-US" sz="1400" dirty="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25D5CB5E-C462-278D-FB73-326D585A385E}"/>
              </a:ext>
            </a:extLst>
          </p:cNvPr>
          <p:cNvSpPr/>
          <p:nvPr/>
        </p:nvSpPr>
        <p:spPr>
          <a:xfrm>
            <a:off x="793671" y="6588919"/>
            <a:ext cx="770001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endParaRPr lang="en-US" sz="1400" dirty="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086D9FCE-BAB9-2FB6-1906-EE5CCC4C348A}"/>
              </a:ext>
            </a:extLst>
          </p:cNvPr>
          <p:cNvSpPr/>
          <p:nvPr/>
        </p:nvSpPr>
        <p:spPr>
          <a:xfrm>
            <a:off x="793671" y="6911102"/>
            <a:ext cx="770001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400" dirty="0"/>
          </a:p>
        </p:txBody>
      </p:sp>
      <p:pic>
        <p:nvPicPr>
          <p:cNvPr id="70" name="Image 1" descr="preencoded.png">
            <a:extLst>
              <a:ext uri="{FF2B5EF4-FFF2-40B4-BE49-F238E27FC236}">
                <a16:creationId xmlns:a16="http://schemas.microsoft.com/office/drawing/2014/main" id="{C33BA8FD-E115-618A-4A6D-C5C511939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808" y="5440799"/>
            <a:ext cx="161211" cy="128945"/>
          </a:xfrm>
          <a:prstGeom prst="rect">
            <a:avLst/>
          </a:prstGeom>
        </p:spPr>
      </p:pic>
      <p:sp>
        <p:nvSpPr>
          <p:cNvPr id="72" name="Text 68">
            <a:extLst>
              <a:ext uri="{FF2B5EF4-FFF2-40B4-BE49-F238E27FC236}">
                <a16:creationId xmlns:a16="http://schemas.microsoft.com/office/drawing/2014/main" id="{B6650D30-6B7C-CFDD-ED54-24D3655D2E71}"/>
              </a:ext>
            </a:extLst>
          </p:cNvPr>
          <p:cNvSpPr/>
          <p:nvPr/>
        </p:nvSpPr>
        <p:spPr>
          <a:xfrm>
            <a:off x="793671" y="7378303"/>
            <a:ext cx="13043059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400" dirty="0"/>
          </a:p>
        </p:txBody>
      </p:sp>
      <p:pic>
        <p:nvPicPr>
          <p:cNvPr id="74" name="Immagine 73" descr="Immagine che contiene schermata, testo, Carattere&#10;&#10;Il contenuto generato dall'IA potrebbe non essere corretto.">
            <a:extLst>
              <a:ext uri="{FF2B5EF4-FFF2-40B4-BE49-F238E27FC236}">
                <a16:creationId xmlns:a16="http://schemas.microsoft.com/office/drawing/2014/main" id="{00E6F413-23C4-BA72-E763-AC2B86F535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777770" y="971372"/>
            <a:ext cx="2381250" cy="2333625"/>
          </a:xfrm>
          <a:prstGeom prst="rect">
            <a:avLst/>
          </a:prstGeom>
        </p:spPr>
      </p:pic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CA4B91C4-E99A-0CE8-3836-14379602FAFE}"/>
              </a:ext>
            </a:extLst>
          </p:cNvPr>
          <p:cNvSpPr txBox="1"/>
          <p:nvPr/>
        </p:nvSpPr>
        <p:spPr>
          <a:xfrm>
            <a:off x="9777770" y="3304997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>
                <a:hlinkClick r:id="rId5" tooltip="https://it.qaz.wiki/wiki/Public-key_cryptography"/>
              </a:rPr>
              <a:t>Questa foto</a:t>
            </a:r>
            <a:r>
              <a:rPr lang="it-IT" sz="900"/>
              <a:t> di Autore sconosciuto è concesso in licenza da </a:t>
            </a:r>
            <a:r>
              <a:rPr lang="it-IT" sz="900">
                <a:hlinkClick r:id="rId6" tooltip="https://creativecommons.org/licenses/by-sa/3.0/"/>
              </a:rPr>
              <a:t>CC BY-SA</a:t>
            </a:r>
            <a:endParaRPr lang="it-IT" sz="900"/>
          </a:p>
        </p:txBody>
      </p:sp>
    </p:spTree>
    <p:extLst>
      <p:ext uri="{BB962C8B-B14F-4D97-AF65-F5344CB8AC3E}">
        <p14:creationId xmlns:p14="http://schemas.microsoft.com/office/powerpoint/2010/main" val="1862711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E96B390-377B-71A8-3653-2779D99F9982}"/>
              </a:ext>
            </a:extLst>
          </p:cNvPr>
          <p:cNvSpPr txBox="1"/>
          <p:nvPr/>
        </p:nvSpPr>
        <p:spPr>
          <a:xfrm>
            <a:off x="5515700" y="220629"/>
            <a:ext cx="3328988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850" dirty="0">
                <a:solidFill>
                  <a:srgbClr val="E851B2"/>
                </a:solidFill>
                <a:latin typeface="Noto Serif HK Semi Bold" pitchFamily="34" charset="0"/>
                <a:ea typeface="Noto Serif HK Semi Bold" pitchFamily="34" charset="-122"/>
              </a:rPr>
              <a:t>ESERCIZIO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07E3DFD-D728-F1D4-B2ED-10782154595D}"/>
              </a:ext>
            </a:extLst>
          </p:cNvPr>
          <p:cNvSpPr txBox="1"/>
          <p:nvPr/>
        </p:nvSpPr>
        <p:spPr>
          <a:xfrm>
            <a:off x="1699073" y="1962835"/>
            <a:ext cx="945925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it-IT" altLang="it-IT" sz="2800" dirty="0"/>
              <a:t>CHIAVE 10</a:t>
            </a:r>
          </a:p>
          <a:p>
            <a:pPr eaLnBrk="1" hangingPunct="1"/>
            <a:r>
              <a:rPr lang="it-IT" altLang="it-IT" sz="2800" dirty="0"/>
              <a:t>Voglio cifrare e decifrare la parola CLASSE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F19DC47-5ECB-7586-F7C9-E7E59D6F7968}"/>
              </a:ext>
            </a:extLst>
          </p:cNvPr>
          <p:cNvSpPr txBox="1"/>
          <p:nvPr/>
        </p:nvSpPr>
        <p:spPr>
          <a:xfrm>
            <a:off x="1699073" y="3536243"/>
            <a:ext cx="7315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it-IT" altLang="it-IT" sz="2800" dirty="0"/>
              <a:t>CHIAVE 12</a:t>
            </a:r>
          </a:p>
          <a:p>
            <a:pPr eaLnBrk="1" hangingPunct="1"/>
            <a:r>
              <a:rPr lang="it-IT" altLang="it-IT" sz="2800" dirty="0"/>
              <a:t>Voglio</a:t>
            </a:r>
            <a:r>
              <a:rPr lang="it-IT" altLang="it-IT" sz="1800" dirty="0"/>
              <a:t> </a:t>
            </a:r>
            <a:r>
              <a:rPr lang="it-IT" altLang="it-IT" sz="2800" dirty="0"/>
              <a:t>cifrare  e decifrare la parola  ANNA </a:t>
            </a:r>
          </a:p>
        </p:txBody>
      </p:sp>
    </p:spTree>
    <p:extLst>
      <p:ext uri="{BB962C8B-B14F-4D97-AF65-F5344CB8AC3E}">
        <p14:creationId xmlns:p14="http://schemas.microsoft.com/office/powerpoint/2010/main" val="3900952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2103</Words>
  <Application>Microsoft Office PowerPoint</Application>
  <PresentationFormat>Personalizzato</PresentationFormat>
  <Paragraphs>304</Paragraphs>
  <Slides>14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9" baseType="lpstr">
      <vt:lpstr>Noto Serif HK Light</vt:lpstr>
      <vt:lpstr>Arial</vt:lpstr>
      <vt:lpstr>Source Sans 3</vt:lpstr>
      <vt:lpstr>Noto Serif HK Semi Bold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PASTORI PAOLA MARIA</cp:lastModifiedBy>
  <cp:revision>10</cp:revision>
  <dcterms:created xsi:type="dcterms:W3CDTF">2025-08-16T10:07:16Z</dcterms:created>
  <dcterms:modified xsi:type="dcterms:W3CDTF">2026-09-14T17:14:04Z</dcterms:modified>
</cp:coreProperties>
</file>