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341" r:id="rId5"/>
    <p:sldId id="338" r:id="rId6"/>
    <p:sldId id="340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raunces Extra Bold" panose="020B0604020202020204" charset="0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3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EEE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F145C4E9-B127-1F51-88F2-44B0FCA3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7704F9FA-AD9E-3D8D-0621-36BD60A5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Sistemi di elaborazione delle informazioni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CF3AE3E7-4ADB-9806-96C4-4CCA5D0C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D053B-5D08-428E-AEEE-45FD65478C9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4305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Bitcoin Mining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363417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172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Cos'è il Mining?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79627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2060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Attività Essenziale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9685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mining è necessario per far funzionare la rete Bitcoin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79627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43776" y="3906441"/>
            <a:ext cx="29213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Verifica Transazioni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3968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transazioni vengono memorizzate sulla blockchain decentralizzata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79627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866948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Validazione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39685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Qualcuno deve verificare la legittimità di ogni transazione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01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Chi Sono i Miner?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6260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513064"/>
            <a:ext cx="34163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Hardware Specializzato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00348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Proprietari di computer potenti che forniscono potenza di calcolo alla rete Bitcoin.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66260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4513064"/>
            <a:ext cx="3236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Ricompensa in Bitcoin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00348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cambio del loro lavoro ricevono una ricompensa in bitcoin per ogni blocco verificato.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CA0656-8648-E62E-E94A-EAA515DE16FE}"/>
              </a:ext>
            </a:extLst>
          </p:cNvPr>
          <p:cNvSpPr txBox="1"/>
          <p:nvPr/>
        </p:nvSpPr>
        <p:spPr>
          <a:xfrm>
            <a:off x="749508" y="390144"/>
            <a:ext cx="9488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ESEMPIO B INVIA UN BITCOIN AD  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3007FB-A957-C359-8DD9-1848F7BBBBD5}"/>
              </a:ext>
            </a:extLst>
          </p:cNvPr>
          <p:cNvSpPr txBox="1"/>
          <p:nvPr/>
        </p:nvSpPr>
        <p:spPr>
          <a:xfrm>
            <a:off x="209863" y="799424"/>
            <a:ext cx="7315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1. Cosa gira in rete prima del blocco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(B) invii una </a:t>
            </a:r>
            <a:r>
              <a:rPr lang="it-IT" b="1" dirty="0"/>
              <a:t>transazione</a:t>
            </a:r>
            <a:r>
              <a:rPr lang="it-IT" dirty="0"/>
              <a:t>: “spendo questo BITCOIN→ destinatario A (indirizzo </a:t>
            </a:r>
            <a:r>
              <a:rPr lang="it-IT" dirty="0" err="1"/>
              <a:t>hash</a:t>
            </a:r>
            <a:r>
              <a:rPr lang="it-IT" dirty="0"/>
              <a:t> di </a:t>
            </a:r>
            <a:r>
              <a:rPr lang="it-IT" dirty="0" err="1"/>
              <a:t>pubA</a:t>
            </a:r>
            <a:r>
              <a:rPr lang="it-IT" dirty="0"/>
              <a:t>)”.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La transazione è firmata da B con la sua chiave privata.(PRIV B)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Questa transazione </a:t>
            </a:r>
            <a:r>
              <a:rPr lang="it-IT" b="1" dirty="0"/>
              <a:t>non è ancora in un blocco</a:t>
            </a:r>
            <a:r>
              <a:rPr lang="it-IT" dirty="0"/>
              <a:t>: va nella </a:t>
            </a:r>
            <a:r>
              <a:rPr lang="it-IT" b="1" dirty="0" err="1"/>
              <a:t>mempool</a:t>
            </a:r>
            <a:r>
              <a:rPr lang="it-IT" dirty="0"/>
              <a:t>, una specie di “sala d’attesa” condivisa tra tutti i nodi.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2FA8BFF-04EF-BD4D-D2CD-3FD199538288}"/>
              </a:ext>
            </a:extLst>
          </p:cNvPr>
          <p:cNvSpPr txBox="1"/>
          <p:nvPr/>
        </p:nvSpPr>
        <p:spPr>
          <a:xfrm>
            <a:off x="0" y="3265228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2. Come nasce un nuovo blocco</a:t>
            </a:r>
          </a:p>
          <a:p>
            <a:pPr>
              <a:buNone/>
            </a:pPr>
            <a:r>
              <a:rPr lang="it-IT" dirty="0"/>
              <a:t>A questo punto entrano in gioco i minatori:</a:t>
            </a:r>
          </a:p>
          <a:p>
            <a:pPr>
              <a:buFont typeface="+mj-lt"/>
              <a:buAutoNum type="arabicPeriod"/>
            </a:pPr>
            <a:r>
              <a:rPr lang="it-IT" b="1" dirty="0"/>
              <a:t>Raccolta delle transazioni</a:t>
            </a:r>
            <a:endParaRPr lang="it-IT" dirty="0"/>
          </a:p>
          <a:p>
            <a:pPr marL="742950" lvl="1" indent="-285750">
              <a:buFont typeface="+mj-lt"/>
              <a:buAutoNum type="arabicPeriod"/>
            </a:pPr>
            <a:r>
              <a:rPr lang="it-IT" dirty="0"/>
              <a:t>Ogni minatore prende dalla </a:t>
            </a:r>
            <a:r>
              <a:rPr lang="it-IT" dirty="0" err="1"/>
              <a:t>mempool</a:t>
            </a:r>
            <a:r>
              <a:rPr lang="it-IT" dirty="0"/>
              <a:t> un insieme di transazioni (di solito quelle con commissioni più alte).</a:t>
            </a:r>
          </a:p>
          <a:p>
            <a:pPr>
              <a:buFont typeface="+mj-lt"/>
              <a:buAutoNum type="arabicPeriod"/>
            </a:pPr>
            <a:r>
              <a:rPr lang="it-IT" b="1" dirty="0"/>
              <a:t>Costruzione dell’</a:t>
            </a:r>
            <a:r>
              <a:rPr lang="it-IT" b="1" dirty="0" err="1"/>
              <a:t>header</a:t>
            </a:r>
            <a:r>
              <a:rPr lang="it-IT" b="1" dirty="0"/>
              <a:t> del blocco</a:t>
            </a:r>
            <a:endParaRPr lang="it-IT" dirty="0"/>
          </a:p>
          <a:p>
            <a:pPr marL="742950" lvl="1" indent="-285750">
              <a:buFont typeface="+mj-lt"/>
              <a:buAutoNum type="arabicPeriod"/>
            </a:pPr>
            <a:r>
              <a:rPr lang="it-IT" dirty="0"/>
              <a:t>L’</a:t>
            </a:r>
            <a:r>
              <a:rPr lang="it-IT" dirty="0" err="1"/>
              <a:t>header</a:t>
            </a:r>
            <a:r>
              <a:rPr lang="it-IT" dirty="0"/>
              <a:t> non è parte di una singola transazione, ma lo costruisce il minatore.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dirty="0"/>
              <a:t>L’</a:t>
            </a:r>
            <a:r>
              <a:rPr lang="it-IT" dirty="0" err="1"/>
              <a:t>header</a:t>
            </a:r>
            <a:r>
              <a:rPr lang="it-IT" dirty="0"/>
              <a:t> contiene: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dirty="0" err="1"/>
              <a:t>Hash</a:t>
            </a:r>
            <a:r>
              <a:rPr lang="it-IT" dirty="0"/>
              <a:t> del blocco precedente → per collegarsi alla catena.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dirty="0" err="1"/>
              <a:t>Merkle</a:t>
            </a:r>
            <a:r>
              <a:rPr lang="it-IT" dirty="0"/>
              <a:t> root delle transazioni → un </a:t>
            </a:r>
            <a:r>
              <a:rPr lang="it-IT" dirty="0" err="1"/>
              <a:t>hash</a:t>
            </a:r>
            <a:r>
              <a:rPr lang="it-IT" dirty="0"/>
              <a:t> che rappresenta in modo unico tutte le transazioni incluse.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dirty="0" err="1"/>
              <a:t>Timestamp</a:t>
            </a:r>
            <a:r>
              <a:rPr lang="it-IT" dirty="0"/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dirty="0" err="1"/>
              <a:t>Nonce</a:t>
            </a:r>
            <a:r>
              <a:rPr lang="it-IT" dirty="0"/>
              <a:t> (valore che cambierà miliardi di volte durante il mining).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dirty="0"/>
              <a:t>Campo difficoltà (target).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AB2DDB0-BEA4-7D31-C8A6-4A96571C2C9E}"/>
              </a:ext>
            </a:extLst>
          </p:cNvPr>
          <p:cNvSpPr txBox="1"/>
          <p:nvPr/>
        </p:nvSpPr>
        <p:spPr>
          <a:xfrm>
            <a:off x="7734925" y="839929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3 </a:t>
            </a:r>
            <a:r>
              <a:rPr lang="it-IT" b="1" dirty="0" err="1"/>
              <a:t>Proof</a:t>
            </a:r>
            <a:r>
              <a:rPr lang="it-IT" b="1" dirty="0"/>
              <a:t> of Work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Il minatore calcola l’</a:t>
            </a:r>
            <a:r>
              <a:rPr lang="it-IT" dirty="0" err="1"/>
              <a:t>hash</a:t>
            </a:r>
            <a:r>
              <a:rPr lang="it-IT" dirty="0"/>
              <a:t> dell’</a:t>
            </a:r>
            <a:r>
              <a:rPr lang="it-IT" dirty="0" err="1"/>
              <a:t>header</a:t>
            </a:r>
            <a:r>
              <a:rPr lang="it-IT" dirty="0"/>
              <a:t> miliardi di volte, cambiando il </a:t>
            </a:r>
            <a:r>
              <a:rPr lang="it-IT" dirty="0" err="1"/>
              <a:t>nonce</a:t>
            </a:r>
            <a:r>
              <a:rPr lang="it-I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Se l’</a:t>
            </a:r>
            <a:r>
              <a:rPr lang="it-IT" dirty="0" err="1"/>
              <a:t>hash</a:t>
            </a:r>
            <a:r>
              <a:rPr lang="it-IT" dirty="0"/>
              <a:t> soddisfa la difficoltà → ha trovato un blocco valido.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Nonce</a:t>
            </a:r>
            <a:r>
              <a:rPr lang="it-IT" dirty="0"/>
              <a:t> = numero arbitrario anche cambiando una sola cifra l’</a:t>
            </a:r>
            <a:r>
              <a:rPr lang="it-IT" dirty="0" err="1"/>
              <a:t>hash</a:t>
            </a:r>
            <a:r>
              <a:rPr lang="it-IT" dirty="0"/>
              <a:t> risulta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diversa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416329-FCBE-465E-949D-716D25535CB4}"/>
              </a:ext>
            </a:extLst>
          </p:cNvPr>
          <p:cNvSpPr txBox="1"/>
          <p:nvPr/>
        </p:nvSpPr>
        <p:spPr>
          <a:xfrm>
            <a:off x="7315200" y="3680726"/>
            <a:ext cx="75250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Propagazione e verifica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Il minatore </a:t>
            </a:r>
            <a:r>
              <a:rPr lang="it-IT" b="1" dirty="0"/>
              <a:t>propaga il blocco</a:t>
            </a:r>
            <a:r>
              <a:rPr lang="it-IT" dirty="0"/>
              <a:t> con dentro: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L’</a:t>
            </a:r>
            <a:r>
              <a:rPr lang="it-IT" dirty="0" err="1"/>
              <a:t>header</a:t>
            </a:r>
            <a:r>
              <a:rPr lang="it-IT" dirty="0"/>
              <a:t> (quello che ha trovato valido),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La lista di transazioni,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Una transazione speciale detta </a:t>
            </a:r>
            <a:r>
              <a:rPr lang="it-IT" b="1" dirty="0" err="1"/>
              <a:t>coinbase</a:t>
            </a:r>
            <a:r>
              <a:rPr lang="it-IT" dirty="0"/>
              <a:t> (dove lui stesso si assegna la ricompensa + le </a:t>
            </a:r>
            <a:r>
              <a:rPr lang="it-IT" dirty="0" err="1"/>
              <a:t>fee</a:t>
            </a:r>
            <a:r>
              <a:rPr lang="it-IT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Gli altri nodi verificano: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Che l’</a:t>
            </a:r>
            <a:r>
              <a:rPr lang="it-IT" dirty="0" err="1"/>
              <a:t>hash</a:t>
            </a:r>
            <a:r>
              <a:rPr lang="it-IT" dirty="0"/>
              <a:t> dell’</a:t>
            </a:r>
            <a:r>
              <a:rPr lang="it-IT" dirty="0" err="1"/>
              <a:t>header</a:t>
            </a:r>
            <a:r>
              <a:rPr lang="it-IT" dirty="0"/>
              <a:t> sia valido,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Che il blocco punti al precedente,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Che le transazioni siano tutte corrette (firme, UTXO non già spesi),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Che la </a:t>
            </a:r>
            <a:r>
              <a:rPr lang="it-IT" dirty="0" err="1"/>
              <a:t>Merkle</a:t>
            </a:r>
            <a:r>
              <a:rPr lang="it-IT" dirty="0"/>
              <a:t> root corrisponda.</a:t>
            </a:r>
          </a:p>
          <a:p>
            <a:pPr>
              <a:buNone/>
            </a:pPr>
            <a:r>
              <a:rPr lang="it-IT" dirty="0"/>
              <a:t>Se tutto è ok → il blocco entra ufficialmente nella blockchain.</a:t>
            </a:r>
          </a:p>
        </p:txBody>
      </p:sp>
    </p:spTree>
    <p:extLst>
      <p:ext uri="{BB962C8B-B14F-4D97-AF65-F5344CB8AC3E}">
        <p14:creationId xmlns:p14="http://schemas.microsoft.com/office/powerpoint/2010/main" val="106911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10A65312-2A5C-D916-2ED2-D31F7596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AAE49B9-515C-BD79-15E5-14453BD152AF}"/>
              </a:ext>
            </a:extLst>
          </p:cNvPr>
          <p:cNvSpPr txBox="1"/>
          <p:nvPr/>
        </p:nvSpPr>
        <p:spPr>
          <a:xfrm>
            <a:off x="3340358" y="399187"/>
            <a:ext cx="604867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60" b="1" dirty="0"/>
              <a:t>PROOF OF WORK (PROVA DI LAVORO)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D87D619-05DB-789E-DE83-904A49F335A8}"/>
              </a:ext>
            </a:extLst>
          </p:cNvPr>
          <p:cNvSpPr txBox="1"/>
          <p:nvPr/>
        </p:nvSpPr>
        <p:spPr>
          <a:xfrm>
            <a:off x="2476262" y="1176874"/>
            <a:ext cx="9073008" cy="753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Meccanismo di consenso utilizzato nella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block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-chain per garantirne la sicurezza: si vuole cioè rendere estremamente difficoltoso per un hacker modificare qualunque dato sulla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block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-chain</a:t>
            </a:r>
          </a:p>
          <a:p>
            <a:pPr algn="just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Il meccanismo è il seguente:</a:t>
            </a:r>
          </a:p>
          <a:p>
            <a:pPr algn="just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Per ogni nuova transazione un nuovo blocco deve essere inserito nella catena di blocchi, ma prima deve essere calcolato l’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del blocco.</a:t>
            </a:r>
          </a:p>
          <a:p>
            <a:pPr algn="just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L’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del blocco contiene un criterio di difficoltà (cioè ,oltre alle informazioni relative alla transazione, viene anche inserito un numero arbitrario(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nonce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))</a:t>
            </a:r>
          </a:p>
          <a:p>
            <a:pPr algn="just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I «minatori» (computer distribuiti in rete),cercano un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che soddisfi i requisiti del criterio di difficoltà, e quando trovano un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valido il blocco è trasmesso in rete ed aggiunto alla catena di blocchi</a:t>
            </a:r>
          </a:p>
          <a:p>
            <a:pPr algn="just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CRITERIO DI DIFFICOLTA’ è in sostanza un parametro che indica quanto debba essere difficile calcolare un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endParaRPr lang="it-IT" sz="2200" dirty="0">
              <a:solidFill>
                <a:srgbClr val="405449"/>
              </a:solidFill>
              <a:latin typeface="Fraunces Extra Bold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160" dirty="0"/>
          </a:p>
        </p:txBody>
      </p:sp>
    </p:spTree>
    <p:extLst>
      <p:ext uri="{BB962C8B-B14F-4D97-AF65-F5344CB8AC3E}">
        <p14:creationId xmlns:p14="http://schemas.microsoft.com/office/powerpoint/2010/main" val="76206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08DF5963-24F2-E4F8-E4D5-A3820A1F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051C63-3F53-6F4F-7F23-4FB4806C2BC2}"/>
              </a:ext>
            </a:extLst>
          </p:cNvPr>
          <p:cNvSpPr txBox="1"/>
          <p:nvPr/>
        </p:nvSpPr>
        <p:spPr>
          <a:xfrm>
            <a:off x="329784" y="188723"/>
            <a:ext cx="12636708" cy="4605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ESEMPIO DI CRITERIO DI DIFFICOLTA</a:t>
            </a:r>
          </a:p>
          <a:p>
            <a:pPr algn="ctr">
              <a:lnSpc>
                <a:spcPct val="150000"/>
              </a:lnSpc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’(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e’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uma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regola matematica codificata nel software della rete)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Supponiamo di utilizzare una funzione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che produca un digest di 256 bit e supponiamo che il target di difficoltà sia il seguente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00000000fffffffff……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Quindi l’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prodotto deve iniziare con 8 zeri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Il minatore parte con un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nonce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arbitrario ,aggiunge le informazioni presenti (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mittente,destinatario,time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stamp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…) e calcola l’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che deve soddisfare il criterio di difficoltà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Ogni volta che non trova l’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hash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che soddisfa il criterio di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difficoltà,cambia</a:t>
            </a:r>
            <a:r>
              <a:rPr lang="it-IT" sz="2200" dirty="0">
                <a:solidFill>
                  <a:srgbClr val="405449"/>
                </a:solidFill>
                <a:latin typeface="Fraunces Extra Bold" pitchFamily="34" charset="0"/>
              </a:rPr>
              <a:t> il </a:t>
            </a:r>
            <a:r>
              <a:rPr lang="it-IT" sz="2200" dirty="0" err="1">
                <a:solidFill>
                  <a:srgbClr val="405449"/>
                </a:solidFill>
                <a:latin typeface="Fraunces Extra Bold" pitchFamily="34" charset="0"/>
              </a:rPr>
              <a:t>nonce</a:t>
            </a:r>
            <a:endParaRPr lang="it-IT" sz="2200" dirty="0">
              <a:solidFill>
                <a:srgbClr val="405449"/>
              </a:solidFill>
              <a:latin typeface="Fraunces Extra Bold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9F77F2-C98B-750E-5247-6D1D9F042AB6}"/>
              </a:ext>
            </a:extLst>
          </p:cNvPr>
          <p:cNvSpPr txBox="1"/>
          <p:nvPr/>
        </p:nvSpPr>
        <p:spPr>
          <a:xfrm>
            <a:off x="2562672" y="4806077"/>
            <a:ext cx="10369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MITT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DC645-1AEF-FCD7-4EAF-FD5224898EC2}"/>
              </a:ext>
            </a:extLst>
          </p:cNvPr>
          <p:cNvSpPr txBox="1"/>
          <p:nvPr/>
        </p:nvSpPr>
        <p:spPr>
          <a:xfrm>
            <a:off x="3253949" y="4806077"/>
            <a:ext cx="10369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DEST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EE30D9F-702D-20F7-1C7B-AE65FE95C025}"/>
              </a:ext>
            </a:extLst>
          </p:cNvPr>
          <p:cNvSpPr txBox="1"/>
          <p:nvPr/>
        </p:nvSpPr>
        <p:spPr>
          <a:xfrm>
            <a:off x="3963862" y="4806077"/>
            <a:ext cx="103691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INFO TRANS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EE4A1DA-3D11-BFC0-34A4-33B02127CDFB}"/>
              </a:ext>
            </a:extLst>
          </p:cNvPr>
          <p:cNvSpPr txBox="1"/>
          <p:nvPr/>
        </p:nvSpPr>
        <p:spPr>
          <a:xfrm>
            <a:off x="5365051" y="4881757"/>
            <a:ext cx="151810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12/09/24 9:00.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0BD190F-F21F-6836-A970-80C65D0C5801}"/>
              </a:ext>
            </a:extLst>
          </p:cNvPr>
          <p:cNvSpPr txBox="1"/>
          <p:nvPr/>
        </p:nvSpPr>
        <p:spPr>
          <a:xfrm>
            <a:off x="7055971" y="4881757"/>
            <a:ext cx="120973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01000….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960DDCC-2A9B-7BF6-EE55-4BCE9A059EA6}"/>
              </a:ext>
            </a:extLst>
          </p:cNvPr>
          <p:cNvSpPr txBox="1"/>
          <p:nvPr/>
        </p:nvSpPr>
        <p:spPr>
          <a:xfrm>
            <a:off x="8956982" y="4881757"/>
            <a:ext cx="302433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HASH 0000111cdbbb</a:t>
            </a:r>
          </a:p>
        </p:txBody>
      </p:sp>
      <p:sp>
        <p:nvSpPr>
          <p:cNvPr id="10" name="Segno di moltiplicazione 9">
            <a:extLst>
              <a:ext uri="{FF2B5EF4-FFF2-40B4-BE49-F238E27FC236}">
                <a16:creationId xmlns:a16="http://schemas.microsoft.com/office/drawing/2014/main" id="{8ABA8C63-61A6-4635-4AC0-0AE5750443DF}"/>
              </a:ext>
            </a:extLst>
          </p:cNvPr>
          <p:cNvSpPr/>
          <p:nvPr/>
        </p:nvSpPr>
        <p:spPr>
          <a:xfrm>
            <a:off x="9475440" y="4585181"/>
            <a:ext cx="1191098" cy="117140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16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9B9945B-5CFB-9A0A-A114-CA2890DA4F25}"/>
              </a:ext>
            </a:extLst>
          </p:cNvPr>
          <p:cNvSpPr txBox="1"/>
          <p:nvPr/>
        </p:nvSpPr>
        <p:spPr>
          <a:xfrm>
            <a:off x="2735491" y="5756582"/>
            <a:ext cx="639431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L’</a:t>
            </a:r>
            <a:r>
              <a:rPr lang="it-IT" sz="2160" dirty="0" err="1"/>
              <a:t>hash</a:t>
            </a:r>
            <a:r>
              <a:rPr lang="it-IT" sz="2160" dirty="0"/>
              <a:t> non </a:t>
            </a:r>
            <a:r>
              <a:rPr lang="it-IT" sz="2160" dirty="0" err="1"/>
              <a:t>soddifa</a:t>
            </a:r>
            <a:r>
              <a:rPr lang="it-IT" sz="2160" dirty="0"/>
              <a:t> il criterio quindi si ricalcola</a:t>
            </a:r>
          </a:p>
          <a:p>
            <a:endParaRPr lang="it-IT" sz="216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43CFFE5-DC1F-0076-2529-BB0C6E068F22}"/>
              </a:ext>
            </a:extLst>
          </p:cNvPr>
          <p:cNvSpPr txBox="1"/>
          <p:nvPr/>
        </p:nvSpPr>
        <p:spPr>
          <a:xfrm>
            <a:off x="6915486" y="6893530"/>
            <a:ext cx="120973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01110...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EE603B-DBE8-33CB-9484-32BD0B2F838A}"/>
              </a:ext>
            </a:extLst>
          </p:cNvPr>
          <p:cNvSpPr txBox="1"/>
          <p:nvPr/>
        </p:nvSpPr>
        <p:spPr>
          <a:xfrm>
            <a:off x="2562672" y="6958620"/>
            <a:ext cx="10369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MITT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330D94-F53C-887F-AF2E-CB6742B024E0}"/>
              </a:ext>
            </a:extLst>
          </p:cNvPr>
          <p:cNvSpPr txBox="1"/>
          <p:nvPr/>
        </p:nvSpPr>
        <p:spPr>
          <a:xfrm>
            <a:off x="3457483" y="6981576"/>
            <a:ext cx="10369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DEST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9ECD6F6-3171-47D4-C69B-51C83CEE9F9D}"/>
              </a:ext>
            </a:extLst>
          </p:cNvPr>
          <p:cNvSpPr txBox="1"/>
          <p:nvPr/>
        </p:nvSpPr>
        <p:spPr>
          <a:xfrm>
            <a:off x="4494399" y="6941863"/>
            <a:ext cx="103691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INFO TRANS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1900795-C35B-5B30-B460-57D466BFA0B8}"/>
              </a:ext>
            </a:extLst>
          </p:cNvPr>
          <p:cNvSpPr txBox="1"/>
          <p:nvPr/>
        </p:nvSpPr>
        <p:spPr>
          <a:xfrm>
            <a:off x="5397385" y="6707088"/>
            <a:ext cx="151810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12/09/24 9:00.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B8A093F-41B3-05AE-2BB9-C08D8DBD2F31}"/>
              </a:ext>
            </a:extLst>
          </p:cNvPr>
          <p:cNvSpPr txBox="1"/>
          <p:nvPr/>
        </p:nvSpPr>
        <p:spPr>
          <a:xfrm>
            <a:off x="8900038" y="6784171"/>
            <a:ext cx="302433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HASH 010111cdaab</a:t>
            </a:r>
          </a:p>
        </p:txBody>
      </p:sp>
    </p:spTree>
    <p:extLst>
      <p:ext uri="{BB962C8B-B14F-4D97-AF65-F5344CB8AC3E}">
        <p14:creationId xmlns:p14="http://schemas.microsoft.com/office/powerpoint/2010/main" val="209197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4347"/>
            <a:ext cx="73661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 Concorrenza tra Miner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1179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93790" y="4086106"/>
            <a:ext cx="31892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Problema Matematico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57652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miner competono per risolvere un problema che richiede tempo ed energia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91179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216962" y="4086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Primo Vincitore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57652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 risolve per primo ottiene il diritto di aggiungere il blocco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1179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640133" y="4086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Ricompensa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57652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vincitore riceve bitcoin di nuova emissione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2004655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Proof of Work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38759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meccanismo che mantiene sicura la blockchain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494014"/>
            <a:ext cx="6407944" cy="1730812"/>
          </a:xfrm>
          <a:prstGeom prst="roundRect">
            <a:avLst>
              <a:gd name="adj" fmla="val 11795"/>
            </a:avLst>
          </a:prstGeom>
          <a:solidFill>
            <a:srgbClr val="FAFFFA"/>
          </a:solidFill>
          <a:ln w="30480">
            <a:solidFill>
              <a:srgbClr val="4A64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3790" y="4494014"/>
            <a:ext cx="60960" cy="1730812"/>
          </a:xfrm>
          <a:prstGeom prst="roundRect">
            <a:avLst>
              <a:gd name="adj" fmla="val 334884"/>
            </a:avLst>
          </a:prstGeom>
          <a:solidFill>
            <a:srgbClr val="4A64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12044" y="4751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Sicurezza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2044" y="5241727"/>
            <a:ext cx="58323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Rende difficile e costoso modificare blocchi passati della blockchain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494014"/>
            <a:ext cx="6408063" cy="1730812"/>
          </a:xfrm>
          <a:prstGeom prst="roundRect">
            <a:avLst>
              <a:gd name="adj" fmla="val 11795"/>
            </a:avLst>
          </a:prstGeom>
          <a:solidFill>
            <a:srgbClr val="FAFFFA"/>
          </a:solidFill>
          <a:ln w="30480">
            <a:solidFill>
              <a:srgbClr val="4A64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428548" y="4494014"/>
            <a:ext cx="60960" cy="1730812"/>
          </a:xfrm>
          <a:prstGeom prst="roundRect">
            <a:avLst>
              <a:gd name="adj" fmla="val 334884"/>
            </a:avLst>
          </a:prstGeom>
          <a:solidFill>
            <a:srgbClr val="4A64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46802" y="4751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Prevenzione Frodi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46802" y="5241727"/>
            <a:ext cx="5832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Impedisce ai miner di rispendere gli stessi bitcoin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606266"/>
            <a:ext cx="8796218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Protezione dalla Manipolazione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102281" y="1984177"/>
            <a:ext cx="12756475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un miner avesse il potere di riaprire blocchi passati, potrebbe modificare transazioni già confermate e frodare altri utenti.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1644" y="1736169"/>
            <a:ext cx="30480" cy="1201579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7848" y="5303758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Sicurezza</a:t>
            </a:r>
            <a:endParaRPr lang="en-US" sz="2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914" y="3185755"/>
            <a:ext cx="4580453" cy="458045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569" y="5282148"/>
            <a:ext cx="310039" cy="3875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5367" y="407598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Immutabilità</a:t>
            </a:r>
            <a:endParaRPr lang="en-US" sz="2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914" y="3185755"/>
            <a:ext cx="4580453" cy="458045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719" y="4260711"/>
            <a:ext cx="310039" cy="3875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5367" y="6531531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Decentralizzazione</a:t>
            </a:r>
            <a:endParaRPr lang="en-US" sz="2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914" y="3185755"/>
            <a:ext cx="4580453" cy="4580453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9719" y="6303585"/>
            <a:ext cx="310039" cy="3875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01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Mining: Ieri e Oggi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498527" y="3485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Primi Anni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6705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Chiunque poteva fare mining con il proprio computer di casa.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304258" y="3485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Oggi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6705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Necessari computer specializzati per la crescente difficoltà.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365466"/>
            <a:ext cx="13042821" cy="3595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93790" y="56565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L'aumento dei miner ha reso il mining più competitivo e tecnologicamente avanzato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808</Words>
  <Application>Microsoft Office PowerPoint</Application>
  <PresentationFormat>Personalizzato</PresentationFormat>
  <Paragraphs>109</Paragraphs>
  <Slides>10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Fraunces Extra Bold</vt:lpstr>
      <vt:lpstr>Nobile</vt:lpstr>
      <vt:lpstr>Fraunces Light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PASTORI PAOLA MARIA</cp:lastModifiedBy>
  <cp:revision>3</cp:revision>
  <dcterms:created xsi:type="dcterms:W3CDTF">2025-08-25T19:33:21Z</dcterms:created>
  <dcterms:modified xsi:type="dcterms:W3CDTF">2026-09-13T14:35:48Z</dcterms:modified>
</cp:coreProperties>
</file>